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8"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2" r:id="rId24"/>
    <p:sldId id="280" r:id="rId25"/>
    <p:sldId id="283" r:id="rId26"/>
    <p:sldId id="281"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278" r:id="rId44"/>
    <p:sldId id="300" r:id="rId45"/>
    <p:sldId id="279" r:id="rId46"/>
    <p:sldId id="301" r:id="rId47"/>
    <p:sldId id="302" r:id="rId48"/>
    <p:sldId id="303" r:id="rId49"/>
    <p:sldId id="304" r:id="rId50"/>
    <p:sldId id="308" r:id="rId51"/>
    <p:sldId id="309" r:id="rId52"/>
    <p:sldId id="310" r:id="rId53"/>
    <p:sldId id="311" r:id="rId54"/>
    <p:sldId id="305" r:id="rId55"/>
    <p:sldId id="306" r:id="rId56"/>
    <p:sldId id="307" r:id="rId57"/>
    <p:sldId id="317" r:id="rId58"/>
    <p:sldId id="312" r:id="rId59"/>
    <p:sldId id="313" r:id="rId60"/>
    <p:sldId id="314" r:id="rId61"/>
    <p:sldId id="315" r:id="rId62"/>
    <p:sldId id="316"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72" autoAdjust="0"/>
    <p:restoredTop sz="94660"/>
  </p:normalViewPr>
  <p:slideViewPr>
    <p:cSldViewPr snapToGrid="0">
      <p:cViewPr varScale="1">
        <p:scale>
          <a:sx n="93" d="100"/>
          <a:sy n="93" d="100"/>
        </p:scale>
        <p:origin x="90" y="7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DBA320-C249-40A5-91BD-3AF42382544B}"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020CD642-082F-4E12-B565-30812757AD38}">
      <dgm:prSet phldrT="[Text]"/>
      <dgm:spPr/>
      <dgm:t>
        <a:bodyPr/>
        <a:lstStyle/>
        <a:p>
          <a:r>
            <a:rPr lang="en-US" dirty="0" smtClean="0"/>
            <a:t>Image Files in </a:t>
          </a:r>
          <a:r>
            <a:rPr lang="en-US" dirty="0" err="1" smtClean="0"/>
            <a:t>OpenCV</a:t>
          </a:r>
          <a:endParaRPr lang="en-US" dirty="0"/>
        </a:p>
      </dgm:t>
    </dgm:pt>
    <dgm:pt modelId="{0F69BA7A-16D9-4BC6-A693-AE06EDD741CB}" type="parTrans" cxnId="{391074B7-23A2-4EC2-A8A1-73AAA9A3569A}">
      <dgm:prSet/>
      <dgm:spPr/>
      <dgm:t>
        <a:bodyPr/>
        <a:lstStyle/>
        <a:p>
          <a:endParaRPr lang="en-US"/>
        </a:p>
      </dgm:t>
    </dgm:pt>
    <dgm:pt modelId="{9C74199E-51B2-4216-9685-99064A7B4B30}" type="sibTrans" cxnId="{391074B7-23A2-4EC2-A8A1-73AAA9A3569A}">
      <dgm:prSet/>
      <dgm:spPr/>
      <dgm:t>
        <a:bodyPr/>
        <a:lstStyle/>
        <a:p>
          <a:endParaRPr lang="en-US"/>
        </a:p>
      </dgm:t>
    </dgm:pt>
    <dgm:pt modelId="{E7333A32-DD87-4CB0-A3DE-2FC0906BDA27}">
      <dgm:prSet phldrT="[Text]"/>
      <dgm:spPr/>
      <dgm:t>
        <a:bodyPr/>
        <a:lstStyle/>
        <a:p>
          <a:r>
            <a:rPr lang="en-US" b="0" i="1" dirty="0" smtClean="0"/>
            <a:t>A theoretical introduction to </a:t>
          </a:r>
          <a:r>
            <a:rPr lang="en-US" b="0" i="0" dirty="0" err="1" smtClean="0"/>
            <a:t>to</a:t>
          </a:r>
          <a:r>
            <a:rPr lang="en-US" b="0" i="0" dirty="0" smtClean="0"/>
            <a:t> drawing in </a:t>
          </a:r>
          <a:r>
            <a:rPr lang="en-US" b="0" i="0" dirty="0" err="1" smtClean="0"/>
            <a:t>OpenCV</a:t>
          </a:r>
          <a:endParaRPr lang="en-US" dirty="0"/>
        </a:p>
      </dgm:t>
    </dgm:pt>
    <dgm:pt modelId="{2B680839-9A49-4E00-9509-EBDF128790C5}" type="parTrans" cxnId="{E6D508A8-0CC8-427F-97AB-9952043CB89E}">
      <dgm:prSet/>
      <dgm:spPr/>
      <dgm:t>
        <a:bodyPr/>
        <a:lstStyle/>
        <a:p>
          <a:endParaRPr lang="en-US"/>
        </a:p>
      </dgm:t>
    </dgm:pt>
    <dgm:pt modelId="{562A56A3-BB1A-4D50-81C5-483D030D8C29}" type="sibTrans" cxnId="{E6D508A8-0CC8-427F-97AB-9952043CB89E}">
      <dgm:prSet/>
      <dgm:spPr/>
      <dgm:t>
        <a:bodyPr/>
        <a:lstStyle/>
        <a:p>
          <a:endParaRPr lang="en-US"/>
        </a:p>
      </dgm:t>
    </dgm:pt>
    <dgm:pt modelId="{7C359688-6E66-4F5E-B1E0-7DCF2BADD6B0}">
      <dgm:prSet/>
      <dgm:spPr/>
      <dgm:t>
        <a:bodyPr/>
        <a:lstStyle/>
        <a:p>
          <a:r>
            <a:rPr lang="en-US" b="0" i="0" dirty="0" smtClean="0"/>
            <a:t>Basic shapes—lines, rectangles, and circles</a:t>
          </a:r>
          <a:endParaRPr lang="en-US" b="0" i="1" dirty="0" smtClean="0"/>
        </a:p>
      </dgm:t>
    </dgm:pt>
    <dgm:pt modelId="{F05A6855-6AAA-4F4B-A2EF-66350F3CD26F}" type="parTrans" cxnId="{4021B8BC-A25F-46CE-ACC6-5F6708C6C7BD}">
      <dgm:prSet/>
      <dgm:spPr/>
      <dgm:t>
        <a:bodyPr/>
        <a:lstStyle/>
        <a:p>
          <a:endParaRPr lang="en-US"/>
        </a:p>
      </dgm:t>
    </dgm:pt>
    <dgm:pt modelId="{9924E30B-A814-4BC8-AD0D-FC51961A9D82}" type="sibTrans" cxnId="{4021B8BC-A25F-46CE-ACC6-5F6708C6C7BD}">
      <dgm:prSet/>
      <dgm:spPr/>
      <dgm:t>
        <a:bodyPr/>
        <a:lstStyle/>
        <a:p>
          <a:endParaRPr lang="en-US"/>
        </a:p>
      </dgm:t>
    </dgm:pt>
    <dgm:pt modelId="{7E1EB773-1037-4D80-B19F-E0E537003508}">
      <dgm:prSet/>
      <dgm:spPr/>
      <dgm:t>
        <a:bodyPr/>
        <a:lstStyle/>
        <a:p>
          <a:r>
            <a:rPr lang="en-US" b="0" i="0" dirty="0" smtClean="0"/>
            <a:t>Basic shapes (2)—clip and arrowed lines, ellipses, and polylines</a:t>
          </a:r>
          <a:endParaRPr lang="en-US" b="0" i="1" dirty="0" smtClean="0"/>
        </a:p>
      </dgm:t>
    </dgm:pt>
    <dgm:pt modelId="{740738A5-AD92-4FB4-818B-BFF9B66A3E51}" type="parTrans" cxnId="{CF301F80-9868-4621-825B-4540353BB20B}">
      <dgm:prSet/>
      <dgm:spPr/>
      <dgm:t>
        <a:bodyPr/>
        <a:lstStyle/>
        <a:p>
          <a:endParaRPr lang="en-US"/>
        </a:p>
      </dgm:t>
    </dgm:pt>
    <dgm:pt modelId="{ED5E8CAA-6BAF-44A4-A0A3-62F32A140F70}" type="sibTrans" cxnId="{CF301F80-9868-4621-825B-4540353BB20B}">
      <dgm:prSet/>
      <dgm:spPr/>
      <dgm:t>
        <a:bodyPr/>
        <a:lstStyle/>
        <a:p>
          <a:endParaRPr lang="en-US"/>
        </a:p>
      </dgm:t>
    </dgm:pt>
    <dgm:pt modelId="{8FFAD638-9210-48D0-B723-B253C15EA8F1}">
      <dgm:prSet/>
      <dgm:spPr/>
      <dgm:t>
        <a:bodyPr/>
        <a:lstStyle/>
        <a:p>
          <a:r>
            <a:rPr lang="en-US" b="0" i="0" dirty="0" smtClean="0"/>
            <a:t>Drawing text</a:t>
          </a:r>
          <a:endParaRPr lang="en-US" b="0" i="1" dirty="0" smtClean="0"/>
        </a:p>
      </dgm:t>
    </dgm:pt>
    <dgm:pt modelId="{7B92022F-E220-42B7-9EE3-DEC216969697}" type="parTrans" cxnId="{FD76E4EA-8948-47EC-986B-12043F3BDEC3}">
      <dgm:prSet/>
      <dgm:spPr/>
      <dgm:t>
        <a:bodyPr/>
        <a:lstStyle/>
        <a:p>
          <a:endParaRPr lang="en-US"/>
        </a:p>
      </dgm:t>
    </dgm:pt>
    <dgm:pt modelId="{BA41ED94-8C2D-4AC9-870E-B82D59A9FB55}" type="sibTrans" cxnId="{FD76E4EA-8948-47EC-986B-12043F3BDEC3}">
      <dgm:prSet/>
      <dgm:spPr/>
      <dgm:t>
        <a:bodyPr/>
        <a:lstStyle/>
        <a:p>
          <a:endParaRPr lang="en-US"/>
        </a:p>
      </dgm:t>
    </dgm:pt>
    <dgm:pt modelId="{3D8BF8BA-9238-4829-9BB8-52F25330D710}">
      <dgm:prSet/>
      <dgm:spPr/>
      <dgm:t>
        <a:bodyPr/>
        <a:lstStyle/>
        <a:p>
          <a:r>
            <a:rPr lang="en-US" b="0" i="0" dirty="0" smtClean="0"/>
            <a:t>Dynamic drawing with mouse events</a:t>
          </a:r>
          <a:endParaRPr lang="en-US" b="0" i="1" dirty="0" smtClean="0"/>
        </a:p>
      </dgm:t>
    </dgm:pt>
    <dgm:pt modelId="{8CACA1C6-7102-4ED4-8F48-BFCD4D3ABE39}" type="parTrans" cxnId="{44DE6FB2-6631-439B-ACB3-1982B5C6C76E}">
      <dgm:prSet/>
      <dgm:spPr/>
      <dgm:t>
        <a:bodyPr/>
        <a:lstStyle/>
        <a:p>
          <a:endParaRPr lang="en-US"/>
        </a:p>
      </dgm:t>
    </dgm:pt>
    <dgm:pt modelId="{C536A815-2BCE-478D-B9E3-52582D2706AD}" type="sibTrans" cxnId="{44DE6FB2-6631-439B-ACB3-1982B5C6C76E}">
      <dgm:prSet/>
      <dgm:spPr/>
      <dgm:t>
        <a:bodyPr/>
        <a:lstStyle/>
        <a:p>
          <a:endParaRPr lang="en-US"/>
        </a:p>
      </dgm:t>
    </dgm:pt>
    <dgm:pt modelId="{E958CBA3-0371-4E45-8A0A-24E429FAAA96}">
      <dgm:prSet/>
      <dgm:spPr/>
      <dgm:t>
        <a:bodyPr/>
        <a:lstStyle/>
        <a:p>
          <a:r>
            <a:rPr lang="en-US" b="0" i="0" smtClean="0"/>
            <a:t>Advanced drawing</a:t>
          </a:r>
          <a:endParaRPr lang="en-US" b="0" i="1" dirty="0" smtClean="0"/>
        </a:p>
      </dgm:t>
    </dgm:pt>
    <dgm:pt modelId="{5DCE5431-66C7-4EFC-991C-63700CFCDB03}" type="parTrans" cxnId="{38D885A9-5B6F-4420-A4A6-EEE5BAB55173}">
      <dgm:prSet/>
      <dgm:spPr/>
      <dgm:t>
        <a:bodyPr/>
        <a:lstStyle/>
        <a:p>
          <a:endParaRPr lang="en-US"/>
        </a:p>
      </dgm:t>
    </dgm:pt>
    <dgm:pt modelId="{73217D72-3A6D-41F3-B840-24DCA7BBD415}" type="sibTrans" cxnId="{38D885A9-5B6F-4420-A4A6-EEE5BAB55173}">
      <dgm:prSet/>
      <dgm:spPr/>
      <dgm:t>
        <a:bodyPr/>
        <a:lstStyle/>
        <a:p>
          <a:endParaRPr lang="en-US"/>
        </a:p>
      </dgm:t>
    </dgm:pt>
    <dgm:pt modelId="{51F98429-197A-42BC-828F-7444BC47D394}" type="pres">
      <dgm:prSet presAssocID="{04DBA320-C249-40A5-91BD-3AF42382544B}" presName="hierChild1" presStyleCnt="0">
        <dgm:presLayoutVars>
          <dgm:chPref val="1"/>
          <dgm:dir/>
          <dgm:animOne val="branch"/>
          <dgm:animLvl val="lvl"/>
          <dgm:resizeHandles/>
        </dgm:presLayoutVars>
      </dgm:prSet>
      <dgm:spPr/>
      <dgm:t>
        <a:bodyPr/>
        <a:lstStyle/>
        <a:p>
          <a:endParaRPr lang="en-US"/>
        </a:p>
      </dgm:t>
    </dgm:pt>
    <dgm:pt modelId="{18774E28-1CA3-424C-998C-C6A3D4CCA9C5}" type="pres">
      <dgm:prSet presAssocID="{020CD642-082F-4E12-B565-30812757AD38}" presName="hierRoot1" presStyleCnt="0"/>
      <dgm:spPr/>
    </dgm:pt>
    <dgm:pt modelId="{777A2302-9C44-4108-9979-94FED9132897}" type="pres">
      <dgm:prSet presAssocID="{020CD642-082F-4E12-B565-30812757AD38}" presName="composite" presStyleCnt="0"/>
      <dgm:spPr/>
    </dgm:pt>
    <dgm:pt modelId="{E2F79744-11AB-4C96-B2B6-B311F6BC123F}" type="pres">
      <dgm:prSet presAssocID="{020CD642-082F-4E12-B565-30812757AD38}" presName="background" presStyleLbl="node0" presStyleIdx="0" presStyleCnt="1"/>
      <dgm:spPr/>
    </dgm:pt>
    <dgm:pt modelId="{09742853-AAA3-4AB6-9558-0FA8FE08297E}" type="pres">
      <dgm:prSet presAssocID="{020CD642-082F-4E12-B565-30812757AD38}" presName="text" presStyleLbl="fgAcc0" presStyleIdx="0" presStyleCnt="1">
        <dgm:presLayoutVars>
          <dgm:chPref val="3"/>
        </dgm:presLayoutVars>
      </dgm:prSet>
      <dgm:spPr/>
      <dgm:t>
        <a:bodyPr/>
        <a:lstStyle/>
        <a:p>
          <a:endParaRPr lang="en-US"/>
        </a:p>
      </dgm:t>
    </dgm:pt>
    <dgm:pt modelId="{F0633EE5-744D-4CE7-8054-B4434994D10C}" type="pres">
      <dgm:prSet presAssocID="{020CD642-082F-4E12-B565-30812757AD38}" presName="hierChild2" presStyleCnt="0"/>
      <dgm:spPr/>
    </dgm:pt>
    <dgm:pt modelId="{7C800A23-6841-4742-A29B-8FD2FB242C3D}" type="pres">
      <dgm:prSet presAssocID="{2B680839-9A49-4E00-9509-EBDF128790C5}" presName="Name10" presStyleLbl="parChTrans1D2" presStyleIdx="0" presStyleCnt="6"/>
      <dgm:spPr/>
      <dgm:t>
        <a:bodyPr/>
        <a:lstStyle/>
        <a:p>
          <a:endParaRPr lang="en-US"/>
        </a:p>
      </dgm:t>
    </dgm:pt>
    <dgm:pt modelId="{0DE87D09-31D9-48F8-BB5F-A837F059A068}" type="pres">
      <dgm:prSet presAssocID="{E7333A32-DD87-4CB0-A3DE-2FC0906BDA27}" presName="hierRoot2" presStyleCnt="0"/>
      <dgm:spPr/>
    </dgm:pt>
    <dgm:pt modelId="{6BA7847E-7537-4364-8BA0-17F5D19FBC19}" type="pres">
      <dgm:prSet presAssocID="{E7333A32-DD87-4CB0-A3DE-2FC0906BDA27}" presName="composite2" presStyleCnt="0"/>
      <dgm:spPr/>
    </dgm:pt>
    <dgm:pt modelId="{FCE6169D-85A9-4F77-9E36-505B38632974}" type="pres">
      <dgm:prSet presAssocID="{E7333A32-DD87-4CB0-A3DE-2FC0906BDA27}" presName="background2" presStyleLbl="node2" presStyleIdx="0" presStyleCnt="6"/>
      <dgm:spPr/>
    </dgm:pt>
    <dgm:pt modelId="{6FEC472A-92A0-426C-946D-18ABDC5808FF}" type="pres">
      <dgm:prSet presAssocID="{E7333A32-DD87-4CB0-A3DE-2FC0906BDA27}" presName="text2" presStyleLbl="fgAcc2" presStyleIdx="0" presStyleCnt="6">
        <dgm:presLayoutVars>
          <dgm:chPref val="3"/>
        </dgm:presLayoutVars>
      </dgm:prSet>
      <dgm:spPr/>
      <dgm:t>
        <a:bodyPr/>
        <a:lstStyle/>
        <a:p>
          <a:endParaRPr lang="en-US"/>
        </a:p>
      </dgm:t>
    </dgm:pt>
    <dgm:pt modelId="{8BA7FB80-9B8B-478F-B19A-E2D676ABBF80}" type="pres">
      <dgm:prSet presAssocID="{E7333A32-DD87-4CB0-A3DE-2FC0906BDA27}" presName="hierChild3" presStyleCnt="0"/>
      <dgm:spPr/>
    </dgm:pt>
    <dgm:pt modelId="{EE1132F6-76A0-41F1-9A30-C6F2DD6486E2}" type="pres">
      <dgm:prSet presAssocID="{F05A6855-6AAA-4F4B-A2EF-66350F3CD26F}" presName="Name10" presStyleLbl="parChTrans1D2" presStyleIdx="1" presStyleCnt="6"/>
      <dgm:spPr/>
      <dgm:t>
        <a:bodyPr/>
        <a:lstStyle/>
        <a:p>
          <a:endParaRPr lang="en-US"/>
        </a:p>
      </dgm:t>
    </dgm:pt>
    <dgm:pt modelId="{9E5735E8-9481-4B54-9280-277CBA765D2E}" type="pres">
      <dgm:prSet presAssocID="{7C359688-6E66-4F5E-B1E0-7DCF2BADD6B0}" presName="hierRoot2" presStyleCnt="0"/>
      <dgm:spPr/>
    </dgm:pt>
    <dgm:pt modelId="{8B2FB78D-144D-44ED-901B-0DD1C9F96DED}" type="pres">
      <dgm:prSet presAssocID="{7C359688-6E66-4F5E-B1E0-7DCF2BADD6B0}" presName="composite2" presStyleCnt="0"/>
      <dgm:spPr/>
    </dgm:pt>
    <dgm:pt modelId="{1260AF10-A8B7-48C7-8BB2-2B2E5D163811}" type="pres">
      <dgm:prSet presAssocID="{7C359688-6E66-4F5E-B1E0-7DCF2BADD6B0}" presName="background2" presStyleLbl="node2" presStyleIdx="1" presStyleCnt="6"/>
      <dgm:spPr/>
    </dgm:pt>
    <dgm:pt modelId="{117B6AA8-98DB-427D-8FC6-8262879AC305}" type="pres">
      <dgm:prSet presAssocID="{7C359688-6E66-4F5E-B1E0-7DCF2BADD6B0}" presName="text2" presStyleLbl="fgAcc2" presStyleIdx="1" presStyleCnt="6">
        <dgm:presLayoutVars>
          <dgm:chPref val="3"/>
        </dgm:presLayoutVars>
      </dgm:prSet>
      <dgm:spPr/>
      <dgm:t>
        <a:bodyPr/>
        <a:lstStyle/>
        <a:p>
          <a:endParaRPr lang="en-US"/>
        </a:p>
      </dgm:t>
    </dgm:pt>
    <dgm:pt modelId="{2AF92C19-4AEB-41AD-B285-10B05267035C}" type="pres">
      <dgm:prSet presAssocID="{7C359688-6E66-4F5E-B1E0-7DCF2BADD6B0}" presName="hierChild3" presStyleCnt="0"/>
      <dgm:spPr/>
    </dgm:pt>
    <dgm:pt modelId="{410DF8CB-420D-4F64-886B-E3BB6EED0281}" type="pres">
      <dgm:prSet presAssocID="{740738A5-AD92-4FB4-818B-BFF9B66A3E51}" presName="Name10" presStyleLbl="parChTrans1D2" presStyleIdx="2" presStyleCnt="6"/>
      <dgm:spPr/>
      <dgm:t>
        <a:bodyPr/>
        <a:lstStyle/>
        <a:p>
          <a:endParaRPr lang="en-US"/>
        </a:p>
      </dgm:t>
    </dgm:pt>
    <dgm:pt modelId="{E5341ABF-A24C-4D7C-9A8C-40FCEC4D3C23}" type="pres">
      <dgm:prSet presAssocID="{7E1EB773-1037-4D80-B19F-E0E537003508}" presName="hierRoot2" presStyleCnt="0"/>
      <dgm:spPr/>
    </dgm:pt>
    <dgm:pt modelId="{8B977FA2-71BA-4E4E-B6BB-98F8AD54A456}" type="pres">
      <dgm:prSet presAssocID="{7E1EB773-1037-4D80-B19F-E0E537003508}" presName="composite2" presStyleCnt="0"/>
      <dgm:spPr/>
    </dgm:pt>
    <dgm:pt modelId="{2354B413-5824-42A8-AE97-979600E2A2DE}" type="pres">
      <dgm:prSet presAssocID="{7E1EB773-1037-4D80-B19F-E0E537003508}" presName="background2" presStyleLbl="node2" presStyleIdx="2" presStyleCnt="6"/>
      <dgm:spPr/>
    </dgm:pt>
    <dgm:pt modelId="{11A71748-B54E-47E1-A454-5D85184F5B29}" type="pres">
      <dgm:prSet presAssocID="{7E1EB773-1037-4D80-B19F-E0E537003508}" presName="text2" presStyleLbl="fgAcc2" presStyleIdx="2" presStyleCnt="6">
        <dgm:presLayoutVars>
          <dgm:chPref val="3"/>
        </dgm:presLayoutVars>
      </dgm:prSet>
      <dgm:spPr/>
      <dgm:t>
        <a:bodyPr/>
        <a:lstStyle/>
        <a:p>
          <a:endParaRPr lang="en-US"/>
        </a:p>
      </dgm:t>
    </dgm:pt>
    <dgm:pt modelId="{644DF71F-F789-4669-A968-52FCA7FA4376}" type="pres">
      <dgm:prSet presAssocID="{7E1EB773-1037-4D80-B19F-E0E537003508}" presName="hierChild3" presStyleCnt="0"/>
      <dgm:spPr/>
    </dgm:pt>
    <dgm:pt modelId="{AD0AF0D3-4273-42F4-A904-94EDBD2C1052}" type="pres">
      <dgm:prSet presAssocID="{7B92022F-E220-42B7-9EE3-DEC216969697}" presName="Name10" presStyleLbl="parChTrans1D2" presStyleIdx="3" presStyleCnt="6"/>
      <dgm:spPr/>
      <dgm:t>
        <a:bodyPr/>
        <a:lstStyle/>
        <a:p>
          <a:endParaRPr lang="en-US"/>
        </a:p>
      </dgm:t>
    </dgm:pt>
    <dgm:pt modelId="{A2F3C4AB-479A-434E-B662-3A11BAE5E106}" type="pres">
      <dgm:prSet presAssocID="{8FFAD638-9210-48D0-B723-B253C15EA8F1}" presName="hierRoot2" presStyleCnt="0"/>
      <dgm:spPr/>
    </dgm:pt>
    <dgm:pt modelId="{362DB852-DEB3-4F71-8D08-91648A3EF872}" type="pres">
      <dgm:prSet presAssocID="{8FFAD638-9210-48D0-B723-B253C15EA8F1}" presName="composite2" presStyleCnt="0"/>
      <dgm:spPr/>
    </dgm:pt>
    <dgm:pt modelId="{7CCC936E-E084-48AE-9650-928A0F8654ED}" type="pres">
      <dgm:prSet presAssocID="{8FFAD638-9210-48D0-B723-B253C15EA8F1}" presName="background2" presStyleLbl="node2" presStyleIdx="3" presStyleCnt="6"/>
      <dgm:spPr/>
    </dgm:pt>
    <dgm:pt modelId="{E0B9AF0A-B31C-4321-BE3D-F658D076846D}" type="pres">
      <dgm:prSet presAssocID="{8FFAD638-9210-48D0-B723-B253C15EA8F1}" presName="text2" presStyleLbl="fgAcc2" presStyleIdx="3" presStyleCnt="6">
        <dgm:presLayoutVars>
          <dgm:chPref val="3"/>
        </dgm:presLayoutVars>
      </dgm:prSet>
      <dgm:spPr/>
      <dgm:t>
        <a:bodyPr/>
        <a:lstStyle/>
        <a:p>
          <a:endParaRPr lang="en-US"/>
        </a:p>
      </dgm:t>
    </dgm:pt>
    <dgm:pt modelId="{8A492D88-2A24-4C1B-8335-9D7C35944F78}" type="pres">
      <dgm:prSet presAssocID="{8FFAD638-9210-48D0-B723-B253C15EA8F1}" presName="hierChild3" presStyleCnt="0"/>
      <dgm:spPr/>
    </dgm:pt>
    <dgm:pt modelId="{0241F85B-F92D-4CF5-A0A0-9BE20EAFBF66}" type="pres">
      <dgm:prSet presAssocID="{8CACA1C6-7102-4ED4-8F48-BFCD4D3ABE39}" presName="Name10" presStyleLbl="parChTrans1D2" presStyleIdx="4" presStyleCnt="6"/>
      <dgm:spPr/>
      <dgm:t>
        <a:bodyPr/>
        <a:lstStyle/>
        <a:p>
          <a:endParaRPr lang="en-US"/>
        </a:p>
      </dgm:t>
    </dgm:pt>
    <dgm:pt modelId="{405DAC97-F37C-4522-8F9C-61C40138E574}" type="pres">
      <dgm:prSet presAssocID="{3D8BF8BA-9238-4829-9BB8-52F25330D710}" presName="hierRoot2" presStyleCnt="0"/>
      <dgm:spPr/>
    </dgm:pt>
    <dgm:pt modelId="{3EC5371C-AECD-4CEC-B117-AB2DA0944F59}" type="pres">
      <dgm:prSet presAssocID="{3D8BF8BA-9238-4829-9BB8-52F25330D710}" presName="composite2" presStyleCnt="0"/>
      <dgm:spPr/>
    </dgm:pt>
    <dgm:pt modelId="{EED11F75-4A12-47B7-A8B2-6640B6AD11A6}" type="pres">
      <dgm:prSet presAssocID="{3D8BF8BA-9238-4829-9BB8-52F25330D710}" presName="background2" presStyleLbl="node2" presStyleIdx="4" presStyleCnt="6"/>
      <dgm:spPr/>
    </dgm:pt>
    <dgm:pt modelId="{2DDAA461-DDF9-4E55-B0C2-AF787E0B7393}" type="pres">
      <dgm:prSet presAssocID="{3D8BF8BA-9238-4829-9BB8-52F25330D710}" presName="text2" presStyleLbl="fgAcc2" presStyleIdx="4" presStyleCnt="6">
        <dgm:presLayoutVars>
          <dgm:chPref val="3"/>
        </dgm:presLayoutVars>
      </dgm:prSet>
      <dgm:spPr/>
      <dgm:t>
        <a:bodyPr/>
        <a:lstStyle/>
        <a:p>
          <a:endParaRPr lang="en-US"/>
        </a:p>
      </dgm:t>
    </dgm:pt>
    <dgm:pt modelId="{F53499F7-9564-457F-BB2B-3542D85B8C50}" type="pres">
      <dgm:prSet presAssocID="{3D8BF8BA-9238-4829-9BB8-52F25330D710}" presName="hierChild3" presStyleCnt="0"/>
      <dgm:spPr/>
    </dgm:pt>
    <dgm:pt modelId="{91FE1C52-112C-49A9-991A-E021EF44CA0C}" type="pres">
      <dgm:prSet presAssocID="{5DCE5431-66C7-4EFC-991C-63700CFCDB03}" presName="Name10" presStyleLbl="parChTrans1D2" presStyleIdx="5" presStyleCnt="6"/>
      <dgm:spPr/>
    </dgm:pt>
    <dgm:pt modelId="{F1C6CA09-4FA1-48B2-91FA-E65ABEBA987A}" type="pres">
      <dgm:prSet presAssocID="{E958CBA3-0371-4E45-8A0A-24E429FAAA96}" presName="hierRoot2" presStyleCnt="0"/>
      <dgm:spPr/>
    </dgm:pt>
    <dgm:pt modelId="{78C133BE-FA30-4E16-A97A-839EBE977B4F}" type="pres">
      <dgm:prSet presAssocID="{E958CBA3-0371-4E45-8A0A-24E429FAAA96}" presName="composite2" presStyleCnt="0"/>
      <dgm:spPr/>
    </dgm:pt>
    <dgm:pt modelId="{4DE791DA-620D-4F0A-9CF9-6C526DE0A6A9}" type="pres">
      <dgm:prSet presAssocID="{E958CBA3-0371-4E45-8A0A-24E429FAAA96}" presName="background2" presStyleLbl="node2" presStyleIdx="5" presStyleCnt="6"/>
      <dgm:spPr/>
    </dgm:pt>
    <dgm:pt modelId="{6CC5AFC4-AAF1-4BE6-905F-A9E77DFCEC3D}" type="pres">
      <dgm:prSet presAssocID="{E958CBA3-0371-4E45-8A0A-24E429FAAA96}" presName="text2" presStyleLbl="fgAcc2" presStyleIdx="5" presStyleCnt="6">
        <dgm:presLayoutVars>
          <dgm:chPref val="3"/>
        </dgm:presLayoutVars>
      </dgm:prSet>
      <dgm:spPr/>
      <dgm:t>
        <a:bodyPr/>
        <a:lstStyle/>
        <a:p>
          <a:endParaRPr lang="en-US"/>
        </a:p>
      </dgm:t>
    </dgm:pt>
    <dgm:pt modelId="{F591AFE5-B979-4FD2-BD11-1541A17C03E6}" type="pres">
      <dgm:prSet presAssocID="{E958CBA3-0371-4E45-8A0A-24E429FAAA96}" presName="hierChild3" presStyleCnt="0"/>
      <dgm:spPr/>
    </dgm:pt>
  </dgm:ptLst>
  <dgm:cxnLst>
    <dgm:cxn modelId="{FDED9296-8B30-4B41-899D-41705B165F2B}" type="presOf" srcId="{5DCE5431-66C7-4EFC-991C-63700CFCDB03}" destId="{91FE1C52-112C-49A9-991A-E021EF44CA0C}" srcOrd="0" destOrd="0" presId="urn:microsoft.com/office/officeart/2005/8/layout/hierarchy1"/>
    <dgm:cxn modelId="{E777F938-B9AB-44B3-88E7-4FA3511B0D07}" type="presOf" srcId="{2B680839-9A49-4E00-9509-EBDF128790C5}" destId="{7C800A23-6841-4742-A29B-8FD2FB242C3D}" srcOrd="0" destOrd="0" presId="urn:microsoft.com/office/officeart/2005/8/layout/hierarchy1"/>
    <dgm:cxn modelId="{BC53A87B-C293-4565-B9C2-27D617F9380C}" type="presOf" srcId="{3D8BF8BA-9238-4829-9BB8-52F25330D710}" destId="{2DDAA461-DDF9-4E55-B0C2-AF787E0B7393}" srcOrd="0" destOrd="0" presId="urn:microsoft.com/office/officeart/2005/8/layout/hierarchy1"/>
    <dgm:cxn modelId="{3F455965-7C8C-4416-826F-EF73E7D91013}" type="presOf" srcId="{E7333A32-DD87-4CB0-A3DE-2FC0906BDA27}" destId="{6FEC472A-92A0-426C-946D-18ABDC5808FF}" srcOrd="0" destOrd="0" presId="urn:microsoft.com/office/officeart/2005/8/layout/hierarchy1"/>
    <dgm:cxn modelId="{88B26354-BBA1-4081-AD5C-D6AEF1868BF9}" type="presOf" srcId="{020CD642-082F-4E12-B565-30812757AD38}" destId="{09742853-AAA3-4AB6-9558-0FA8FE08297E}" srcOrd="0" destOrd="0" presId="urn:microsoft.com/office/officeart/2005/8/layout/hierarchy1"/>
    <dgm:cxn modelId="{391074B7-23A2-4EC2-A8A1-73AAA9A3569A}" srcId="{04DBA320-C249-40A5-91BD-3AF42382544B}" destId="{020CD642-082F-4E12-B565-30812757AD38}" srcOrd="0" destOrd="0" parTransId="{0F69BA7A-16D9-4BC6-A693-AE06EDD741CB}" sibTransId="{9C74199E-51B2-4216-9685-99064A7B4B30}"/>
    <dgm:cxn modelId="{AD964971-9158-4CBB-BCC5-8C5B611A750E}" type="presOf" srcId="{8CACA1C6-7102-4ED4-8F48-BFCD4D3ABE39}" destId="{0241F85B-F92D-4CF5-A0A0-9BE20EAFBF66}" srcOrd="0" destOrd="0" presId="urn:microsoft.com/office/officeart/2005/8/layout/hierarchy1"/>
    <dgm:cxn modelId="{4021B8BC-A25F-46CE-ACC6-5F6708C6C7BD}" srcId="{020CD642-082F-4E12-B565-30812757AD38}" destId="{7C359688-6E66-4F5E-B1E0-7DCF2BADD6B0}" srcOrd="1" destOrd="0" parTransId="{F05A6855-6AAA-4F4B-A2EF-66350F3CD26F}" sibTransId="{9924E30B-A814-4BC8-AD0D-FC51961A9D82}"/>
    <dgm:cxn modelId="{A9682789-1C2E-4141-A494-EB80233D2502}" type="presOf" srcId="{04DBA320-C249-40A5-91BD-3AF42382544B}" destId="{51F98429-197A-42BC-828F-7444BC47D394}" srcOrd="0" destOrd="0" presId="urn:microsoft.com/office/officeart/2005/8/layout/hierarchy1"/>
    <dgm:cxn modelId="{E3591C2A-83ED-419E-86AA-4012670ECAC3}" type="presOf" srcId="{7B92022F-E220-42B7-9EE3-DEC216969697}" destId="{AD0AF0D3-4273-42F4-A904-94EDBD2C1052}" srcOrd="0" destOrd="0" presId="urn:microsoft.com/office/officeart/2005/8/layout/hierarchy1"/>
    <dgm:cxn modelId="{38D885A9-5B6F-4420-A4A6-EEE5BAB55173}" srcId="{020CD642-082F-4E12-B565-30812757AD38}" destId="{E958CBA3-0371-4E45-8A0A-24E429FAAA96}" srcOrd="5" destOrd="0" parTransId="{5DCE5431-66C7-4EFC-991C-63700CFCDB03}" sibTransId="{73217D72-3A6D-41F3-B840-24DCA7BBD415}"/>
    <dgm:cxn modelId="{FD76E4EA-8948-47EC-986B-12043F3BDEC3}" srcId="{020CD642-082F-4E12-B565-30812757AD38}" destId="{8FFAD638-9210-48D0-B723-B253C15EA8F1}" srcOrd="3" destOrd="0" parTransId="{7B92022F-E220-42B7-9EE3-DEC216969697}" sibTransId="{BA41ED94-8C2D-4AC9-870E-B82D59A9FB55}"/>
    <dgm:cxn modelId="{1FFFAAB5-87A1-49A9-B34C-2CC6440825FC}" type="presOf" srcId="{7E1EB773-1037-4D80-B19F-E0E537003508}" destId="{11A71748-B54E-47E1-A454-5D85184F5B29}" srcOrd="0" destOrd="0" presId="urn:microsoft.com/office/officeart/2005/8/layout/hierarchy1"/>
    <dgm:cxn modelId="{13518935-71B9-4701-94AD-95D8C1FDC2EE}" type="presOf" srcId="{8FFAD638-9210-48D0-B723-B253C15EA8F1}" destId="{E0B9AF0A-B31C-4321-BE3D-F658D076846D}" srcOrd="0" destOrd="0" presId="urn:microsoft.com/office/officeart/2005/8/layout/hierarchy1"/>
    <dgm:cxn modelId="{E6D508A8-0CC8-427F-97AB-9952043CB89E}" srcId="{020CD642-082F-4E12-B565-30812757AD38}" destId="{E7333A32-DD87-4CB0-A3DE-2FC0906BDA27}" srcOrd="0" destOrd="0" parTransId="{2B680839-9A49-4E00-9509-EBDF128790C5}" sibTransId="{562A56A3-BB1A-4D50-81C5-483D030D8C29}"/>
    <dgm:cxn modelId="{CF301F80-9868-4621-825B-4540353BB20B}" srcId="{020CD642-082F-4E12-B565-30812757AD38}" destId="{7E1EB773-1037-4D80-B19F-E0E537003508}" srcOrd="2" destOrd="0" parTransId="{740738A5-AD92-4FB4-818B-BFF9B66A3E51}" sibTransId="{ED5E8CAA-6BAF-44A4-A0A3-62F32A140F70}"/>
    <dgm:cxn modelId="{146EAC99-8431-4CC9-B60A-C4B8CFC50AAA}" type="presOf" srcId="{7C359688-6E66-4F5E-B1E0-7DCF2BADD6B0}" destId="{117B6AA8-98DB-427D-8FC6-8262879AC305}" srcOrd="0" destOrd="0" presId="urn:microsoft.com/office/officeart/2005/8/layout/hierarchy1"/>
    <dgm:cxn modelId="{AD3CA336-85AA-498A-B06A-3CB548A7F3CC}" type="presOf" srcId="{F05A6855-6AAA-4F4B-A2EF-66350F3CD26F}" destId="{EE1132F6-76A0-41F1-9A30-C6F2DD6486E2}" srcOrd="0" destOrd="0" presId="urn:microsoft.com/office/officeart/2005/8/layout/hierarchy1"/>
    <dgm:cxn modelId="{5D036DD1-A3D0-4D2E-9E06-713A0B28FAD4}" type="presOf" srcId="{740738A5-AD92-4FB4-818B-BFF9B66A3E51}" destId="{410DF8CB-420D-4F64-886B-E3BB6EED0281}" srcOrd="0" destOrd="0" presId="urn:microsoft.com/office/officeart/2005/8/layout/hierarchy1"/>
    <dgm:cxn modelId="{44DE6FB2-6631-439B-ACB3-1982B5C6C76E}" srcId="{020CD642-082F-4E12-B565-30812757AD38}" destId="{3D8BF8BA-9238-4829-9BB8-52F25330D710}" srcOrd="4" destOrd="0" parTransId="{8CACA1C6-7102-4ED4-8F48-BFCD4D3ABE39}" sibTransId="{C536A815-2BCE-478D-B9E3-52582D2706AD}"/>
    <dgm:cxn modelId="{F34CCB5D-1CC1-42C5-8FA6-09AC3F220D51}" type="presOf" srcId="{E958CBA3-0371-4E45-8A0A-24E429FAAA96}" destId="{6CC5AFC4-AAF1-4BE6-905F-A9E77DFCEC3D}" srcOrd="0" destOrd="0" presId="urn:microsoft.com/office/officeart/2005/8/layout/hierarchy1"/>
    <dgm:cxn modelId="{BF5E5349-0170-4DBF-A86D-C0C5FD5B4911}" type="presParOf" srcId="{51F98429-197A-42BC-828F-7444BC47D394}" destId="{18774E28-1CA3-424C-998C-C6A3D4CCA9C5}" srcOrd="0" destOrd="0" presId="urn:microsoft.com/office/officeart/2005/8/layout/hierarchy1"/>
    <dgm:cxn modelId="{D9F2BACB-1D24-491A-8376-82391A3AB8AC}" type="presParOf" srcId="{18774E28-1CA3-424C-998C-C6A3D4CCA9C5}" destId="{777A2302-9C44-4108-9979-94FED9132897}" srcOrd="0" destOrd="0" presId="urn:microsoft.com/office/officeart/2005/8/layout/hierarchy1"/>
    <dgm:cxn modelId="{72B2FAC6-9082-4561-8013-2E664BADEE3C}" type="presParOf" srcId="{777A2302-9C44-4108-9979-94FED9132897}" destId="{E2F79744-11AB-4C96-B2B6-B311F6BC123F}" srcOrd="0" destOrd="0" presId="urn:microsoft.com/office/officeart/2005/8/layout/hierarchy1"/>
    <dgm:cxn modelId="{C9B255EA-3DDB-4CFC-80B8-C2B609906672}" type="presParOf" srcId="{777A2302-9C44-4108-9979-94FED9132897}" destId="{09742853-AAA3-4AB6-9558-0FA8FE08297E}" srcOrd="1" destOrd="0" presId="urn:microsoft.com/office/officeart/2005/8/layout/hierarchy1"/>
    <dgm:cxn modelId="{6A1D065A-43AD-407D-BB79-D86C77141DB5}" type="presParOf" srcId="{18774E28-1CA3-424C-998C-C6A3D4CCA9C5}" destId="{F0633EE5-744D-4CE7-8054-B4434994D10C}" srcOrd="1" destOrd="0" presId="urn:microsoft.com/office/officeart/2005/8/layout/hierarchy1"/>
    <dgm:cxn modelId="{403BFD5B-7988-42E6-8626-27C6A0F3FCD0}" type="presParOf" srcId="{F0633EE5-744D-4CE7-8054-B4434994D10C}" destId="{7C800A23-6841-4742-A29B-8FD2FB242C3D}" srcOrd="0" destOrd="0" presId="urn:microsoft.com/office/officeart/2005/8/layout/hierarchy1"/>
    <dgm:cxn modelId="{4D44D24E-6EEF-4A00-AD8F-09FF659A11DA}" type="presParOf" srcId="{F0633EE5-744D-4CE7-8054-B4434994D10C}" destId="{0DE87D09-31D9-48F8-BB5F-A837F059A068}" srcOrd="1" destOrd="0" presId="urn:microsoft.com/office/officeart/2005/8/layout/hierarchy1"/>
    <dgm:cxn modelId="{4DCD1D0F-5FCF-4009-9348-C6A9CF486029}" type="presParOf" srcId="{0DE87D09-31D9-48F8-BB5F-A837F059A068}" destId="{6BA7847E-7537-4364-8BA0-17F5D19FBC19}" srcOrd="0" destOrd="0" presId="urn:microsoft.com/office/officeart/2005/8/layout/hierarchy1"/>
    <dgm:cxn modelId="{6D122FFC-6856-4BBC-A25A-73B2119B8F1C}" type="presParOf" srcId="{6BA7847E-7537-4364-8BA0-17F5D19FBC19}" destId="{FCE6169D-85A9-4F77-9E36-505B38632974}" srcOrd="0" destOrd="0" presId="urn:microsoft.com/office/officeart/2005/8/layout/hierarchy1"/>
    <dgm:cxn modelId="{F81FBD4F-E9BE-4C3C-B7A3-C138FBE12DD1}" type="presParOf" srcId="{6BA7847E-7537-4364-8BA0-17F5D19FBC19}" destId="{6FEC472A-92A0-426C-946D-18ABDC5808FF}" srcOrd="1" destOrd="0" presId="urn:microsoft.com/office/officeart/2005/8/layout/hierarchy1"/>
    <dgm:cxn modelId="{8E088A64-1D2F-4E6B-9547-AEAFF8167B75}" type="presParOf" srcId="{0DE87D09-31D9-48F8-BB5F-A837F059A068}" destId="{8BA7FB80-9B8B-478F-B19A-E2D676ABBF80}" srcOrd="1" destOrd="0" presId="urn:microsoft.com/office/officeart/2005/8/layout/hierarchy1"/>
    <dgm:cxn modelId="{8FC995B7-A954-4D2C-BB65-24625971FEEE}" type="presParOf" srcId="{F0633EE5-744D-4CE7-8054-B4434994D10C}" destId="{EE1132F6-76A0-41F1-9A30-C6F2DD6486E2}" srcOrd="2" destOrd="0" presId="urn:microsoft.com/office/officeart/2005/8/layout/hierarchy1"/>
    <dgm:cxn modelId="{A9A1E497-ACE6-4A1F-95CA-3063405A15CE}" type="presParOf" srcId="{F0633EE5-744D-4CE7-8054-B4434994D10C}" destId="{9E5735E8-9481-4B54-9280-277CBA765D2E}" srcOrd="3" destOrd="0" presId="urn:microsoft.com/office/officeart/2005/8/layout/hierarchy1"/>
    <dgm:cxn modelId="{C179C3E7-605A-47EF-A225-C62BFB072E7A}" type="presParOf" srcId="{9E5735E8-9481-4B54-9280-277CBA765D2E}" destId="{8B2FB78D-144D-44ED-901B-0DD1C9F96DED}" srcOrd="0" destOrd="0" presId="urn:microsoft.com/office/officeart/2005/8/layout/hierarchy1"/>
    <dgm:cxn modelId="{72756081-591E-4131-8D54-A917601B1B63}" type="presParOf" srcId="{8B2FB78D-144D-44ED-901B-0DD1C9F96DED}" destId="{1260AF10-A8B7-48C7-8BB2-2B2E5D163811}" srcOrd="0" destOrd="0" presId="urn:microsoft.com/office/officeart/2005/8/layout/hierarchy1"/>
    <dgm:cxn modelId="{D2D8A627-B216-48EE-8737-3C24F798A2FB}" type="presParOf" srcId="{8B2FB78D-144D-44ED-901B-0DD1C9F96DED}" destId="{117B6AA8-98DB-427D-8FC6-8262879AC305}" srcOrd="1" destOrd="0" presId="urn:microsoft.com/office/officeart/2005/8/layout/hierarchy1"/>
    <dgm:cxn modelId="{B0D5B8C0-39D1-46AF-B224-39495E36D47F}" type="presParOf" srcId="{9E5735E8-9481-4B54-9280-277CBA765D2E}" destId="{2AF92C19-4AEB-41AD-B285-10B05267035C}" srcOrd="1" destOrd="0" presId="urn:microsoft.com/office/officeart/2005/8/layout/hierarchy1"/>
    <dgm:cxn modelId="{497EBD6E-A111-4A9F-981F-B9CC3E7C5E88}" type="presParOf" srcId="{F0633EE5-744D-4CE7-8054-B4434994D10C}" destId="{410DF8CB-420D-4F64-886B-E3BB6EED0281}" srcOrd="4" destOrd="0" presId="urn:microsoft.com/office/officeart/2005/8/layout/hierarchy1"/>
    <dgm:cxn modelId="{61C818B8-FD9D-434C-ABFB-13C4D894F65C}" type="presParOf" srcId="{F0633EE5-744D-4CE7-8054-B4434994D10C}" destId="{E5341ABF-A24C-4D7C-9A8C-40FCEC4D3C23}" srcOrd="5" destOrd="0" presId="urn:microsoft.com/office/officeart/2005/8/layout/hierarchy1"/>
    <dgm:cxn modelId="{1D3DB7C2-2015-43CD-8E27-4136DD49A69B}" type="presParOf" srcId="{E5341ABF-A24C-4D7C-9A8C-40FCEC4D3C23}" destId="{8B977FA2-71BA-4E4E-B6BB-98F8AD54A456}" srcOrd="0" destOrd="0" presId="urn:microsoft.com/office/officeart/2005/8/layout/hierarchy1"/>
    <dgm:cxn modelId="{A71CEE09-1237-460A-A1A2-28603F504BF3}" type="presParOf" srcId="{8B977FA2-71BA-4E4E-B6BB-98F8AD54A456}" destId="{2354B413-5824-42A8-AE97-979600E2A2DE}" srcOrd="0" destOrd="0" presId="urn:microsoft.com/office/officeart/2005/8/layout/hierarchy1"/>
    <dgm:cxn modelId="{EBA1988F-D1B8-4885-A576-097BCD44D9BD}" type="presParOf" srcId="{8B977FA2-71BA-4E4E-B6BB-98F8AD54A456}" destId="{11A71748-B54E-47E1-A454-5D85184F5B29}" srcOrd="1" destOrd="0" presId="urn:microsoft.com/office/officeart/2005/8/layout/hierarchy1"/>
    <dgm:cxn modelId="{0423D7AD-EDA8-48FF-84C7-9D002A8F0FE3}" type="presParOf" srcId="{E5341ABF-A24C-4D7C-9A8C-40FCEC4D3C23}" destId="{644DF71F-F789-4669-A968-52FCA7FA4376}" srcOrd="1" destOrd="0" presId="urn:microsoft.com/office/officeart/2005/8/layout/hierarchy1"/>
    <dgm:cxn modelId="{4A363B8A-45B9-40ED-9464-65F140F3028B}" type="presParOf" srcId="{F0633EE5-744D-4CE7-8054-B4434994D10C}" destId="{AD0AF0D3-4273-42F4-A904-94EDBD2C1052}" srcOrd="6" destOrd="0" presId="urn:microsoft.com/office/officeart/2005/8/layout/hierarchy1"/>
    <dgm:cxn modelId="{F1A0555D-29A6-47C5-893D-A288F39B8A19}" type="presParOf" srcId="{F0633EE5-744D-4CE7-8054-B4434994D10C}" destId="{A2F3C4AB-479A-434E-B662-3A11BAE5E106}" srcOrd="7" destOrd="0" presId="urn:microsoft.com/office/officeart/2005/8/layout/hierarchy1"/>
    <dgm:cxn modelId="{60246C24-2BD4-43B6-AAB1-D4670619427B}" type="presParOf" srcId="{A2F3C4AB-479A-434E-B662-3A11BAE5E106}" destId="{362DB852-DEB3-4F71-8D08-91648A3EF872}" srcOrd="0" destOrd="0" presId="urn:microsoft.com/office/officeart/2005/8/layout/hierarchy1"/>
    <dgm:cxn modelId="{8371FAB6-11DE-44F0-AA99-9A6ADF2A80D5}" type="presParOf" srcId="{362DB852-DEB3-4F71-8D08-91648A3EF872}" destId="{7CCC936E-E084-48AE-9650-928A0F8654ED}" srcOrd="0" destOrd="0" presId="urn:microsoft.com/office/officeart/2005/8/layout/hierarchy1"/>
    <dgm:cxn modelId="{FF0FAF89-88FF-49A3-A69E-D7A959496EED}" type="presParOf" srcId="{362DB852-DEB3-4F71-8D08-91648A3EF872}" destId="{E0B9AF0A-B31C-4321-BE3D-F658D076846D}" srcOrd="1" destOrd="0" presId="urn:microsoft.com/office/officeart/2005/8/layout/hierarchy1"/>
    <dgm:cxn modelId="{2FAD070A-E421-42C5-BB5B-FFD6C370F40B}" type="presParOf" srcId="{A2F3C4AB-479A-434E-B662-3A11BAE5E106}" destId="{8A492D88-2A24-4C1B-8335-9D7C35944F78}" srcOrd="1" destOrd="0" presId="urn:microsoft.com/office/officeart/2005/8/layout/hierarchy1"/>
    <dgm:cxn modelId="{2849FFE5-8E44-4312-A065-5C119874D073}" type="presParOf" srcId="{F0633EE5-744D-4CE7-8054-B4434994D10C}" destId="{0241F85B-F92D-4CF5-A0A0-9BE20EAFBF66}" srcOrd="8" destOrd="0" presId="urn:microsoft.com/office/officeart/2005/8/layout/hierarchy1"/>
    <dgm:cxn modelId="{231DA2B7-AC5A-44B0-9243-EDFD197991D5}" type="presParOf" srcId="{F0633EE5-744D-4CE7-8054-B4434994D10C}" destId="{405DAC97-F37C-4522-8F9C-61C40138E574}" srcOrd="9" destOrd="0" presId="urn:microsoft.com/office/officeart/2005/8/layout/hierarchy1"/>
    <dgm:cxn modelId="{9B4CB546-7623-4A38-BFC8-050881AAC729}" type="presParOf" srcId="{405DAC97-F37C-4522-8F9C-61C40138E574}" destId="{3EC5371C-AECD-4CEC-B117-AB2DA0944F59}" srcOrd="0" destOrd="0" presId="urn:microsoft.com/office/officeart/2005/8/layout/hierarchy1"/>
    <dgm:cxn modelId="{772F046E-BEC9-4664-9802-61B8F128F27E}" type="presParOf" srcId="{3EC5371C-AECD-4CEC-B117-AB2DA0944F59}" destId="{EED11F75-4A12-47B7-A8B2-6640B6AD11A6}" srcOrd="0" destOrd="0" presId="urn:microsoft.com/office/officeart/2005/8/layout/hierarchy1"/>
    <dgm:cxn modelId="{9E5A8A05-E469-459F-B805-69DC2DC14962}" type="presParOf" srcId="{3EC5371C-AECD-4CEC-B117-AB2DA0944F59}" destId="{2DDAA461-DDF9-4E55-B0C2-AF787E0B7393}" srcOrd="1" destOrd="0" presId="urn:microsoft.com/office/officeart/2005/8/layout/hierarchy1"/>
    <dgm:cxn modelId="{96965E55-BB5E-452E-8F7F-A342EBE9E8B4}" type="presParOf" srcId="{405DAC97-F37C-4522-8F9C-61C40138E574}" destId="{F53499F7-9564-457F-BB2B-3542D85B8C50}" srcOrd="1" destOrd="0" presId="urn:microsoft.com/office/officeart/2005/8/layout/hierarchy1"/>
    <dgm:cxn modelId="{C771B925-BDD6-452D-BF7F-6F4E7881C279}" type="presParOf" srcId="{F0633EE5-744D-4CE7-8054-B4434994D10C}" destId="{91FE1C52-112C-49A9-991A-E021EF44CA0C}" srcOrd="10" destOrd="0" presId="urn:microsoft.com/office/officeart/2005/8/layout/hierarchy1"/>
    <dgm:cxn modelId="{81FCE710-EAD9-4F7D-B082-F4889F2A15D5}" type="presParOf" srcId="{F0633EE5-744D-4CE7-8054-B4434994D10C}" destId="{F1C6CA09-4FA1-48B2-91FA-E65ABEBA987A}" srcOrd="11" destOrd="0" presId="urn:microsoft.com/office/officeart/2005/8/layout/hierarchy1"/>
    <dgm:cxn modelId="{46E0EDF7-1F3D-42E8-813A-B04C205A4501}" type="presParOf" srcId="{F1C6CA09-4FA1-48B2-91FA-E65ABEBA987A}" destId="{78C133BE-FA30-4E16-A97A-839EBE977B4F}" srcOrd="0" destOrd="0" presId="urn:microsoft.com/office/officeart/2005/8/layout/hierarchy1"/>
    <dgm:cxn modelId="{830CF65A-1AFB-42CC-8D6F-D68079C6200C}" type="presParOf" srcId="{78C133BE-FA30-4E16-A97A-839EBE977B4F}" destId="{4DE791DA-620D-4F0A-9CF9-6C526DE0A6A9}" srcOrd="0" destOrd="0" presId="urn:microsoft.com/office/officeart/2005/8/layout/hierarchy1"/>
    <dgm:cxn modelId="{8EE7D599-024F-46C6-B94E-FF379D409A18}" type="presParOf" srcId="{78C133BE-FA30-4E16-A97A-839EBE977B4F}" destId="{6CC5AFC4-AAF1-4BE6-905F-A9E77DFCEC3D}" srcOrd="1" destOrd="0" presId="urn:microsoft.com/office/officeart/2005/8/layout/hierarchy1"/>
    <dgm:cxn modelId="{FEBE28FA-86C2-4A25-A0DF-88952B3534BB}" type="presParOf" srcId="{F1C6CA09-4FA1-48B2-91FA-E65ABEBA987A}" destId="{F591AFE5-B979-4FD2-BD11-1541A17C03E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FE1C52-112C-49A9-991A-E021EF44CA0C}">
      <dsp:nvSpPr>
        <dsp:cNvPr id="0" name=""/>
        <dsp:cNvSpPr/>
      </dsp:nvSpPr>
      <dsp:spPr>
        <a:xfrm>
          <a:off x="5176930" y="1887167"/>
          <a:ext cx="4447821" cy="423351"/>
        </a:xfrm>
        <a:custGeom>
          <a:avLst/>
          <a:gdLst/>
          <a:ahLst/>
          <a:cxnLst/>
          <a:rect l="0" t="0" r="0" b="0"/>
          <a:pathLst>
            <a:path>
              <a:moveTo>
                <a:pt x="0" y="0"/>
              </a:moveTo>
              <a:lnTo>
                <a:pt x="0" y="288501"/>
              </a:lnTo>
              <a:lnTo>
                <a:pt x="4447821" y="288501"/>
              </a:lnTo>
              <a:lnTo>
                <a:pt x="4447821" y="42335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41F85B-F92D-4CF5-A0A0-9BE20EAFBF66}">
      <dsp:nvSpPr>
        <dsp:cNvPr id="0" name=""/>
        <dsp:cNvSpPr/>
      </dsp:nvSpPr>
      <dsp:spPr>
        <a:xfrm>
          <a:off x="5176930" y="1887167"/>
          <a:ext cx="2668692" cy="423351"/>
        </a:xfrm>
        <a:custGeom>
          <a:avLst/>
          <a:gdLst/>
          <a:ahLst/>
          <a:cxnLst/>
          <a:rect l="0" t="0" r="0" b="0"/>
          <a:pathLst>
            <a:path>
              <a:moveTo>
                <a:pt x="0" y="0"/>
              </a:moveTo>
              <a:lnTo>
                <a:pt x="0" y="288501"/>
              </a:lnTo>
              <a:lnTo>
                <a:pt x="2668692" y="288501"/>
              </a:lnTo>
              <a:lnTo>
                <a:pt x="2668692" y="42335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0AF0D3-4273-42F4-A904-94EDBD2C1052}">
      <dsp:nvSpPr>
        <dsp:cNvPr id="0" name=""/>
        <dsp:cNvSpPr/>
      </dsp:nvSpPr>
      <dsp:spPr>
        <a:xfrm>
          <a:off x="5176930" y="1887167"/>
          <a:ext cx="889564" cy="423351"/>
        </a:xfrm>
        <a:custGeom>
          <a:avLst/>
          <a:gdLst/>
          <a:ahLst/>
          <a:cxnLst/>
          <a:rect l="0" t="0" r="0" b="0"/>
          <a:pathLst>
            <a:path>
              <a:moveTo>
                <a:pt x="0" y="0"/>
              </a:moveTo>
              <a:lnTo>
                <a:pt x="0" y="288501"/>
              </a:lnTo>
              <a:lnTo>
                <a:pt x="889564" y="288501"/>
              </a:lnTo>
              <a:lnTo>
                <a:pt x="889564" y="42335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0DF8CB-420D-4F64-886B-E3BB6EED0281}">
      <dsp:nvSpPr>
        <dsp:cNvPr id="0" name=""/>
        <dsp:cNvSpPr/>
      </dsp:nvSpPr>
      <dsp:spPr>
        <a:xfrm>
          <a:off x="4287366" y="1887167"/>
          <a:ext cx="889564" cy="423351"/>
        </a:xfrm>
        <a:custGeom>
          <a:avLst/>
          <a:gdLst/>
          <a:ahLst/>
          <a:cxnLst/>
          <a:rect l="0" t="0" r="0" b="0"/>
          <a:pathLst>
            <a:path>
              <a:moveTo>
                <a:pt x="889564" y="0"/>
              </a:moveTo>
              <a:lnTo>
                <a:pt x="889564" y="288501"/>
              </a:lnTo>
              <a:lnTo>
                <a:pt x="0" y="288501"/>
              </a:lnTo>
              <a:lnTo>
                <a:pt x="0" y="42335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1132F6-76A0-41F1-9A30-C6F2DD6486E2}">
      <dsp:nvSpPr>
        <dsp:cNvPr id="0" name=""/>
        <dsp:cNvSpPr/>
      </dsp:nvSpPr>
      <dsp:spPr>
        <a:xfrm>
          <a:off x="2508237" y="1887167"/>
          <a:ext cx="2668692" cy="423351"/>
        </a:xfrm>
        <a:custGeom>
          <a:avLst/>
          <a:gdLst/>
          <a:ahLst/>
          <a:cxnLst/>
          <a:rect l="0" t="0" r="0" b="0"/>
          <a:pathLst>
            <a:path>
              <a:moveTo>
                <a:pt x="2668692" y="0"/>
              </a:moveTo>
              <a:lnTo>
                <a:pt x="2668692" y="288501"/>
              </a:lnTo>
              <a:lnTo>
                <a:pt x="0" y="288501"/>
              </a:lnTo>
              <a:lnTo>
                <a:pt x="0" y="42335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800A23-6841-4742-A29B-8FD2FB242C3D}">
      <dsp:nvSpPr>
        <dsp:cNvPr id="0" name=""/>
        <dsp:cNvSpPr/>
      </dsp:nvSpPr>
      <dsp:spPr>
        <a:xfrm>
          <a:off x="729108" y="1887167"/>
          <a:ext cx="4447821" cy="423351"/>
        </a:xfrm>
        <a:custGeom>
          <a:avLst/>
          <a:gdLst/>
          <a:ahLst/>
          <a:cxnLst/>
          <a:rect l="0" t="0" r="0" b="0"/>
          <a:pathLst>
            <a:path>
              <a:moveTo>
                <a:pt x="4447821" y="0"/>
              </a:moveTo>
              <a:lnTo>
                <a:pt x="4447821" y="288501"/>
              </a:lnTo>
              <a:lnTo>
                <a:pt x="0" y="288501"/>
              </a:lnTo>
              <a:lnTo>
                <a:pt x="0" y="42335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F79744-11AB-4C96-B2B6-B311F6BC123F}">
      <dsp:nvSpPr>
        <dsp:cNvPr id="0" name=""/>
        <dsp:cNvSpPr/>
      </dsp:nvSpPr>
      <dsp:spPr>
        <a:xfrm>
          <a:off x="4449105" y="962828"/>
          <a:ext cx="1455650" cy="9243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742853-AAA3-4AB6-9558-0FA8FE08297E}">
      <dsp:nvSpPr>
        <dsp:cNvPr id="0" name=""/>
        <dsp:cNvSpPr/>
      </dsp:nvSpPr>
      <dsp:spPr>
        <a:xfrm>
          <a:off x="4610844" y="1116480"/>
          <a:ext cx="1455650" cy="9243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Image Files in </a:t>
          </a:r>
          <a:r>
            <a:rPr lang="en-US" sz="1300" kern="1200" dirty="0" err="1" smtClean="0"/>
            <a:t>OpenCV</a:t>
          </a:r>
          <a:endParaRPr lang="en-US" sz="1300" kern="1200" dirty="0"/>
        </a:p>
      </dsp:txBody>
      <dsp:txXfrm>
        <a:off x="4637917" y="1143553"/>
        <a:ext cx="1401504" cy="870192"/>
      </dsp:txXfrm>
    </dsp:sp>
    <dsp:sp modelId="{FCE6169D-85A9-4F77-9E36-505B38632974}">
      <dsp:nvSpPr>
        <dsp:cNvPr id="0" name=""/>
        <dsp:cNvSpPr/>
      </dsp:nvSpPr>
      <dsp:spPr>
        <a:xfrm>
          <a:off x="1283" y="2310518"/>
          <a:ext cx="1455650" cy="9243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EC472A-92A0-426C-946D-18ABDC5808FF}">
      <dsp:nvSpPr>
        <dsp:cNvPr id="0" name=""/>
        <dsp:cNvSpPr/>
      </dsp:nvSpPr>
      <dsp:spPr>
        <a:xfrm>
          <a:off x="163022" y="2464170"/>
          <a:ext cx="1455650" cy="9243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b="0" i="1" kern="1200" dirty="0" smtClean="0"/>
            <a:t>A theoretical introduction to </a:t>
          </a:r>
          <a:r>
            <a:rPr lang="en-US" sz="1300" b="0" i="0" kern="1200" dirty="0" err="1" smtClean="0"/>
            <a:t>to</a:t>
          </a:r>
          <a:r>
            <a:rPr lang="en-US" sz="1300" b="0" i="0" kern="1200" dirty="0" smtClean="0"/>
            <a:t> drawing in </a:t>
          </a:r>
          <a:r>
            <a:rPr lang="en-US" sz="1300" b="0" i="0" kern="1200" dirty="0" err="1" smtClean="0"/>
            <a:t>OpenCV</a:t>
          </a:r>
          <a:endParaRPr lang="en-US" sz="1300" kern="1200" dirty="0"/>
        </a:p>
      </dsp:txBody>
      <dsp:txXfrm>
        <a:off x="190095" y="2491243"/>
        <a:ext cx="1401504" cy="870192"/>
      </dsp:txXfrm>
    </dsp:sp>
    <dsp:sp modelId="{1260AF10-A8B7-48C7-8BB2-2B2E5D163811}">
      <dsp:nvSpPr>
        <dsp:cNvPr id="0" name=""/>
        <dsp:cNvSpPr/>
      </dsp:nvSpPr>
      <dsp:spPr>
        <a:xfrm>
          <a:off x="1780412" y="2310518"/>
          <a:ext cx="1455650" cy="9243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7B6AA8-98DB-427D-8FC6-8262879AC305}">
      <dsp:nvSpPr>
        <dsp:cNvPr id="0" name=""/>
        <dsp:cNvSpPr/>
      </dsp:nvSpPr>
      <dsp:spPr>
        <a:xfrm>
          <a:off x="1942151" y="2464170"/>
          <a:ext cx="1455650" cy="9243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b="0" i="0" kern="1200" dirty="0" smtClean="0"/>
            <a:t>Basic shapes—lines, rectangles, and circles</a:t>
          </a:r>
          <a:endParaRPr lang="en-US" sz="1300" b="0" i="1" kern="1200" dirty="0" smtClean="0"/>
        </a:p>
      </dsp:txBody>
      <dsp:txXfrm>
        <a:off x="1969224" y="2491243"/>
        <a:ext cx="1401504" cy="870192"/>
      </dsp:txXfrm>
    </dsp:sp>
    <dsp:sp modelId="{2354B413-5824-42A8-AE97-979600E2A2DE}">
      <dsp:nvSpPr>
        <dsp:cNvPr id="0" name=""/>
        <dsp:cNvSpPr/>
      </dsp:nvSpPr>
      <dsp:spPr>
        <a:xfrm>
          <a:off x="3559540" y="2310518"/>
          <a:ext cx="1455650" cy="9243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A71748-B54E-47E1-A454-5D85184F5B29}">
      <dsp:nvSpPr>
        <dsp:cNvPr id="0" name=""/>
        <dsp:cNvSpPr/>
      </dsp:nvSpPr>
      <dsp:spPr>
        <a:xfrm>
          <a:off x="3721279" y="2464170"/>
          <a:ext cx="1455650" cy="9243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b="0" i="0" kern="1200" dirty="0" smtClean="0"/>
            <a:t>Basic shapes (2)—clip and arrowed lines, ellipses, and polylines</a:t>
          </a:r>
          <a:endParaRPr lang="en-US" sz="1300" b="0" i="1" kern="1200" dirty="0" smtClean="0"/>
        </a:p>
      </dsp:txBody>
      <dsp:txXfrm>
        <a:off x="3748352" y="2491243"/>
        <a:ext cx="1401504" cy="870192"/>
      </dsp:txXfrm>
    </dsp:sp>
    <dsp:sp modelId="{7CCC936E-E084-48AE-9650-928A0F8654ED}">
      <dsp:nvSpPr>
        <dsp:cNvPr id="0" name=""/>
        <dsp:cNvSpPr/>
      </dsp:nvSpPr>
      <dsp:spPr>
        <a:xfrm>
          <a:off x="5338669" y="2310518"/>
          <a:ext cx="1455650" cy="9243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B9AF0A-B31C-4321-BE3D-F658D076846D}">
      <dsp:nvSpPr>
        <dsp:cNvPr id="0" name=""/>
        <dsp:cNvSpPr/>
      </dsp:nvSpPr>
      <dsp:spPr>
        <a:xfrm>
          <a:off x="5500408" y="2464170"/>
          <a:ext cx="1455650" cy="9243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b="0" i="0" kern="1200" dirty="0" smtClean="0"/>
            <a:t>Drawing text</a:t>
          </a:r>
          <a:endParaRPr lang="en-US" sz="1300" b="0" i="1" kern="1200" dirty="0" smtClean="0"/>
        </a:p>
      </dsp:txBody>
      <dsp:txXfrm>
        <a:off x="5527481" y="2491243"/>
        <a:ext cx="1401504" cy="870192"/>
      </dsp:txXfrm>
    </dsp:sp>
    <dsp:sp modelId="{EED11F75-4A12-47B7-A8B2-6640B6AD11A6}">
      <dsp:nvSpPr>
        <dsp:cNvPr id="0" name=""/>
        <dsp:cNvSpPr/>
      </dsp:nvSpPr>
      <dsp:spPr>
        <a:xfrm>
          <a:off x="7117798" y="2310518"/>
          <a:ext cx="1455650" cy="9243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DAA461-DDF9-4E55-B0C2-AF787E0B7393}">
      <dsp:nvSpPr>
        <dsp:cNvPr id="0" name=""/>
        <dsp:cNvSpPr/>
      </dsp:nvSpPr>
      <dsp:spPr>
        <a:xfrm>
          <a:off x="7279537" y="2464170"/>
          <a:ext cx="1455650" cy="9243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b="0" i="0" kern="1200" dirty="0" smtClean="0"/>
            <a:t>Dynamic drawing with mouse events</a:t>
          </a:r>
          <a:endParaRPr lang="en-US" sz="1300" b="0" i="1" kern="1200" dirty="0" smtClean="0"/>
        </a:p>
      </dsp:txBody>
      <dsp:txXfrm>
        <a:off x="7306610" y="2491243"/>
        <a:ext cx="1401504" cy="870192"/>
      </dsp:txXfrm>
    </dsp:sp>
    <dsp:sp modelId="{4DE791DA-620D-4F0A-9CF9-6C526DE0A6A9}">
      <dsp:nvSpPr>
        <dsp:cNvPr id="0" name=""/>
        <dsp:cNvSpPr/>
      </dsp:nvSpPr>
      <dsp:spPr>
        <a:xfrm>
          <a:off x="8896926" y="2310518"/>
          <a:ext cx="1455650" cy="9243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C5AFC4-AAF1-4BE6-905F-A9E77DFCEC3D}">
      <dsp:nvSpPr>
        <dsp:cNvPr id="0" name=""/>
        <dsp:cNvSpPr/>
      </dsp:nvSpPr>
      <dsp:spPr>
        <a:xfrm>
          <a:off x="9058665" y="2464170"/>
          <a:ext cx="1455650" cy="9243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b="0" i="0" kern="1200" smtClean="0"/>
            <a:t>Advanced drawing</a:t>
          </a:r>
          <a:endParaRPr lang="en-US" sz="1300" b="0" i="1" kern="1200" dirty="0" smtClean="0"/>
        </a:p>
      </dsp:txBody>
      <dsp:txXfrm>
        <a:off x="9085738" y="2491243"/>
        <a:ext cx="1401504" cy="87019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1BA192A-3428-4FE8-BFF1-677421D593B2}" type="datetimeFigureOut">
              <a:rPr lang="en-US" smtClean="0"/>
              <a:t>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698EC2-106C-4B26-AD0A-8CC6C1F50E60}" type="slidenum">
              <a:rPr lang="en-US" smtClean="0"/>
              <a:t>‹#›</a:t>
            </a:fld>
            <a:endParaRPr lang="en-US"/>
          </a:p>
        </p:txBody>
      </p:sp>
    </p:spTree>
    <p:extLst>
      <p:ext uri="{BB962C8B-B14F-4D97-AF65-F5344CB8AC3E}">
        <p14:creationId xmlns:p14="http://schemas.microsoft.com/office/powerpoint/2010/main" val="1686405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BA192A-3428-4FE8-BFF1-677421D593B2}" type="datetimeFigureOut">
              <a:rPr lang="en-US" smtClean="0"/>
              <a:t>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698EC2-106C-4B26-AD0A-8CC6C1F50E60}" type="slidenum">
              <a:rPr lang="en-US" smtClean="0"/>
              <a:t>‹#›</a:t>
            </a:fld>
            <a:endParaRPr lang="en-US"/>
          </a:p>
        </p:txBody>
      </p:sp>
    </p:spTree>
    <p:extLst>
      <p:ext uri="{BB962C8B-B14F-4D97-AF65-F5344CB8AC3E}">
        <p14:creationId xmlns:p14="http://schemas.microsoft.com/office/powerpoint/2010/main" val="3119541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1BA192A-3428-4FE8-BFF1-677421D593B2}" type="datetimeFigureOut">
              <a:rPr lang="en-US" smtClean="0"/>
              <a:t>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698EC2-106C-4B26-AD0A-8CC6C1F50E60}" type="slidenum">
              <a:rPr lang="en-US" smtClean="0"/>
              <a:t>‹#›</a:t>
            </a:fld>
            <a:endParaRPr lang="en-US"/>
          </a:p>
        </p:txBody>
      </p:sp>
    </p:spTree>
    <p:extLst>
      <p:ext uri="{BB962C8B-B14F-4D97-AF65-F5344CB8AC3E}">
        <p14:creationId xmlns:p14="http://schemas.microsoft.com/office/powerpoint/2010/main" val="115029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1BA192A-3428-4FE8-BFF1-677421D593B2}" type="datetimeFigureOut">
              <a:rPr lang="en-US" smtClean="0"/>
              <a:t>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698EC2-106C-4B26-AD0A-8CC6C1F50E60}" type="slidenum">
              <a:rPr lang="en-US" smtClean="0"/>
              <a:t>‹#›</a:t>
            </a:fld>
            <a:endParaRPr lang="en-US"/>
          </a:p>
        </p:txBody>
      </p:sp>
    </p:spTree>
    <p:extLst>
      <p:ext uri="{BB962C8B-B14F-4D97-AF65-F5344CB8AC3E}">
        <p14:creationId xmlns:p14="http://schemas.microsoft.com/office/powerpoint/2010/main" val="3808673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1BA192A-3428-4FE8-BFF1-677421D593B2}" type="datetimeFigureOut">
              <a:rPr lang="en-US" smtClean="0"/>
              <a:t>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698EC2-106C-4B26-AD0A-8CC6C1F50E60}" type="slidenum">
              <a:rPr lang="en-US" smtClean="0"/>
              <a:t>‹#›</a:t>
            </a:fld>
            <a:endParaRPr lang="en-US"/>
          </a:p>
        </p:txBody>
      </p:sp>
    </p:spTree>
    <p:extLst>
      <p:ext uri="{BB962C8B-B14F-4D97-AF65-F5344CB8AC3E}">
        <p14:creationId xmlns:p14="http://schemas.microsoft.com/office/powerpoint/2010/main" val="175371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1BA192A-3428-4FE8-BFF1-677421D593B2}" type="datetimeFigureOut">
              <a:rPr lang="en-US" smtClean="0"/>
              <a:t>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698EC2-106C-4B26-AD0A-8CC6C1F50E60}" type="slidenum">
              <a:rPr lang="en-US" smtClean="0"/>
              <a:t>‹#›</a:t>
            </a:fld>
            <a:endParaRPr lang="en-US"/>
          </a:p>
        </p:txBody>
      </p:sp>
    </p:spTree>
    <p:extLst>
      <p:ext uri="{BB962C8B-B14F-4D97-AF65-F5344CB8AC3E}">
        <p14:creationId xmlns:p14="http://schemas.microsoft.com/office/powerpoint/2010/main" val="4293471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BA192A-3428-4FE8-BFF1-677421D593B2}" type="datetimeFigureOut">
              <a:rPr lang="en-US" smtClean="0"/>
              <a:t>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698EC2-106C-4B26-AD0A-8CC6C1F50E60}" type="slidenum">
              <a:rPr lang="en-US" smtClean="0"/>
              <a:t>‹#›</a:t>
            </a:fld>
            <a:endParaRPr lang="en-US"/>
          </a:p>
        </p:txBody>
      </p:sp>
    </p:spTree>
    <p:extLst>
      <p:ext uri="{BB962C8B-B14F-4D97-AF65-F5344CB8AC3E}">
        <p14:creationId xmlns:p14="http://schemas.microsoft.com/office/powerpoint/2010/main" val="3245986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BA192A-3428-4FE8-BFF1-677421D593B2}" type="datetimeFigureOut">
              <a:rPr lang="en-US" smtClean="0"/>
              <a:t>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698EC2-106C-4B26-AD0A-8CC6C1F50E60}" type="slidenum">
              <a:rPr lang="en-US" smtClean="0"/>
              <a:t>‹#›</a:t>
            </a:fld>
            <a:endParaRPr lang="en-US"/>
          </a:p>
        </p:txBody>
      </p:sp>
    </p:spTree>
    <p:extLst>
      <p:ext uri="{BB962C8B-B14F-4D97-AF65-F5344CB8AC3E}">
        <p14:creationId xmlns:p14="http://schemas.microsoft.com/office/powerpoint/2010/main" val="2375021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BA192A-3428-4FE8-BFF1-677421D593B2}" type="datetimeFigureOut">
              <a:rPr lang="en-US" smtClean="0"/>
              <a:t>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698EC2-106C-4B26-AD0A-8CC6C1F50E60}" type="slidenum">
              <a:rPr lang="en-US" smtClean="0"/>
              <a:t>‹#›</a:t>
            </a:fld>
            <a:endParaRPr lang="en-US"/>
          </a:p>
        </p:txBody>
      </p:sp>
    </p:spTree>
    <p:extLst>
      <p:ext uri="{BB962C8B-B14F-4D97-AF65-F5344CB8AC3E}">
        <p14:creationId xmlns:p14="http://schemas.microsoft.com/office/powerpoint/2010/main" val="1018157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BA192A-3428-4FE8-BFF1-677421D593B2}" type="datetimeFigureOut">
              <a:rPr lang="en-US" smtClean="0"/>
              <a:t>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698EC2-106C-4B26-AD0A-8CC6C1F50E60}" type="slidenum">
              <a:rPr lang="en-US" smtClean="0"/>
              <a:t>‹#›</a:t>
            </a:fld>
            <a:endParaRPr lang="en-US"/>
          </a:p>
        </p:txBody>
      </p:sp>
    </p:spTree>
    <p:extLst>
      <p:ext uri="{BB962C8B-B14F-4D97-AF65-F5344CB8AC3E}">
        <p14:creationId xmlns:p14="http://schemas.microsoft.com/office/powerpoint/2010/main" val="3336504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BA192A-3428-4FE8-BFF1-677421D593B2}" type="datetimeFigureOut">
              <a:rPr lang="en-US" smtClean="0"/>
              <a:t>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698EC2-106C-4B26-AD0A-8CC6C1F50E60}" type="slidenum">
              <a:rPr lang="en-US" smtClean="0"/>
              <a:t>‹#›</a:t>
            </a:fld>
            <a:endParaRPr lang="en-US"/>
          </a:p>
        </p:txBody>
      </p:sp>
    </p:spTree>
    <p:extLst>
      <p:ext uri="{BB962C8B-B14F-4D97-AF65-F5344CB8AC3E}">
        <p14:creationId xmlns:p14="http://schemas.microsoft.com/office/powerpoint/2010/main" val="1131374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BA192A-3428-4FE8-BFF1-677421D593B2}" type="datetimeFigureOut">
              <a:rPr lang="en-US" smtClean="0"/>
              <a:t>2/8/2021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698EC2-106C-4B26-AD0A-8CC6C1F50E60}" type="slidenum">
              <a:rPr lang="en-US" smtClean="0"/>
              <a:t>‹#›</a:t>
            </a:fld>
            <a:endParaRPr lang="en-US"/>
          </a:p>
        </p:txBody>
      </p:sp>
    </p:spTree>
    <p:extLst>
      <p:ext uri="{BB962C8B-B14F-4D97-AF65-F5344CB8AC3E}">
        <p14:creationId xmlns:p14="http://schemas.microsoft.com/office/powerpoint/2010/main" val="4203628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68064" y="619432"/>
            <a:ext cx="4399935" cy="2374491"/>
          </a:xfrm>
        </p:spPr>
        <p:txBody>
          <a:bodyPr/>
          <a:lstStyle/>
          <a:p>
            <a:r>
              <a:rPr lang="en-US" dirty="0" smtClean="0"/>
              <a:t>OpenCV 4 and Python</a:t>
            </a:r>
            <a:endParaRPr lang="en-US" dirty="0"/>
          </a:p>
        </p:txBody>
      </p:sp>
      <p:sp>
        <p:nvSpPr>
          <p:cNvPr id="3" name="Subtitle 2"/>
          <p:cNvSpPr>
            <a:spLocks noGrp="1"/>
          </p:cNvSpPr>
          <p:nvPr>
            <p:ph type="subTitle" idx="1"/>
          </p:nvPr>
        </p:nvSpPr>
        <p:spPr>
          <a:xfrm>
            <a:off x="6754760" y="3569110"/>
            <a:ext cx="3913239" cy="1688690"/>
          </a:xfrm>
        </p:spPr>
        <p:txBody>
          <a:bodyPr>
            <a:normAutofit/>
          </a:bodyPr>
          <a:lstStyle/>
          <a:p>
            <a:r>
              <a:rPr lang="en-US" dirty="0" smtClean="0"/>
              <a:t>Part 1. Installation</a:t>
            </a:r>
          </a:p>
          <a:p>
            <a:r>
              <a:rPr lang="en-US" dirty="0" smtClean="0"/>
              <a:t>Part 2. Basic image operations</a:t>
            </a:r>
            <a:endParaRPr lang="en-US" dirty="0" smtClean="0"/>
          </a:p>
          <a:p>
            <a:r>
              <a:rPr lang="en-US" dirty="0" smtClean="0"/>
              <a:t>Part 3 . Handling files and images</a:t>
            </a:r>
            <a:endParaRPr lang="en-US" dirty="0"/>
          </a:p>
        </p:txBody>
      </p:sp>
      <p:pic>
        <p:nvPicPr>
          <p:cNvPr id="4" name="Picture 3"/>
          <p:cNvPicPr>
            <a:picLocks noChangeAspect="1"/>
          </p:cNvPicPr>
          <p:nvPr/>
        </p:nvPicPr>
        <p:blipFill>
          <a:blip r:embed="rId2"/>
          <a:stretch>
            <a:fillRect/>
          </a:stretch>
        </p:blipFill>
        <p:spPr>
          <a:xfrm>
            <a:off x="0" y="325949"/>
            <a:ext cx="6024549" cy="6254057"/>
          </a:xfrm>
          <a:prstGeom prst="rect">
            <a:avLst/>
          </a:prstGeom>
        </p:spPr>
      </p:pic>
      <p:sp>
        <p:nvSpPr>
          <p:cNvPr id="6" name="Rounded Rectangle 5"/>
          <p:cNvSpPr/>
          <p:nvPr/>
        </p:nvSpPr>
        <p:spPr>
          <a:xfrm>
            <a:off x="6656964" y="3443864"/>
            <a:ext cx="4094315" cy="1939181"/>
          </a:xfrm>
          <a:prstGeom prst="roundRect">
            <a:avLst/>
          </a:prstGeom>
          <a:solidFill>
            <a:srgbClr val="92D050">
              <a:alpha val="29804"/>
            </a:srgb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9953181" y="2922102"/>
            <a:ext cx="798098" cy="60689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751279" y="2809257"/>
            <a:ext cx="686406" cy="369332"/>
          </a:xfrm>
          <a:prstGeom prst="rect">
            <a:avLst/>
          </a:prstGeom>
        </p:spPr>
        <p:txBody>
          <a:bodyPr wrap="none">
            <a:spAutoFit/>
          </a:bodyPr>
          <a:lstStyle/>
          <a:p>
            <a:r>
              <a:rPr lang="en-US" dirty="0" smtClean="0"/>
              <a:t>Done</a:t>
            </a:r>
            <a:endParaRPr lang="en-US" dirty="0"/>
          </a:p>
        </p:txBody>
      </p:sp>
    </p:spTree>
    <p:extLst>
      <p:ext uri="{BB962C8B-B14F-4D97-AF65-F5344CB8AC3E}">
        <p14:creationId xmlns:p14="http://schemas.microsoft.com/office/powerpoint/2010/main" val="6875534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68064" y="619432"/>
            <a:ext cx="4399935" cy="2374491"/>
          </a:xfrm>
        </p:spPr>
        <p:txBody>
          <a:bodyPr/>
          <a:lstStyle/>
          <a:p>
            <a:r>
              <a:rPr lang="en-US" dirty="0" smtClean="0"/>
              <a:t>OpenCV 4 and Python</a:t>
            </a:r>
            <a:endParaRPr lang="en-US" dirty="0"/>
          </a:p>
        </p:txBody>
      </p:sp>
      <p:sp>
        <p:nvSpPr>
          <p:cNvPr id="3" name="Subtitle 2"/>
          <p:cNvSpPr>
            <a:spLocks noGrp="1"/>
          </p:cNvSpPr>
          <p:nvPr>
            <p:ph type="subTitle" idx="1"/>
          </p:nvPr>
        </p:nvSpPr>
        <p:spPr>
          <a:xfrm>
            <a:off x="6981227" y="5017047"/>
            <a:ext cx="3913239" cy="1688690"/>
          </a:xfrm>
        </p:spPr>
        <p:txBody>
          <a:bodyPr/>
          <a:lstStyle/>
          <a:p>
            <a:r>
              <a:rPr lang="en-US" dirty="0" smtClean="0"/>
              <a:t>Part 4. </a:t>
            </a:r>
            <a:r>
              <a:rPr lang="en-US" b="1" dirty="0"/>
              <a:t>Constructing Basic Shapes in </a:t>
            </a:r>
            <a:r>
              <a:rPr lang="en-US" b="1" dirty="0" err="1" smtClean="0"/>
              <a:t>OpenCV</a:t>
            </a:r>
            <a:endParaRPr lang="en-US" b="1" dirty="0"/>
          </a:p>
        </p:txBody>
      </p:sp>
      <p:pic>
        <p:nvPicPr>
          <p:cNvPr id="4" name="Picture 3"/>
          <p:cNvPicPr>
            <a:picLocks noChangeAspect="1"/>
          </p:cNvPicPr>
          <p:nvPr/>
        </p:nvPicPr>
        <p:blipFill>
          <a:blip r:embed="rId2"/>
          <a:stretch>
            <a:fillRect/>
          </a:stretch>
        </p:blipFill>
        <p:spPr>
          <a:xfrm>
            <a:off x="0" y="325949"/>
            <a:ext cx="6024549" cy="6254057"/>
          </a:xfrm>
          <a:prstGeom prst="rect">
            <a:avLst/>
          </a:prstGeom>
        </p:spPr>
      </p:pic>
      <p:sp>
        <p:nvSpPr>
          <p:cNvPr id="5" name="Rounded Rectangle 4"/>
          <p:cNvSpPr/>
          <p:nvPr/>
        </p:nvSpPr>
        <p:spPr>
          <a:xfrm>
            <a:off x="7104955" y="4922268"/>
            <a:ext cx="3563044" cy="939124"/>
          </a:xfrm>
          <a:prstGeom prst="roundRect">
            <a:avLst/>
          </a:prstGeom>
          <a:solidFill>
            <a:srgbClr val="FF0000">
              <a:alpha val="29804"/>
            </a:srgb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flipH="1" flipV="1">
            <a:off x="10667999" y="5715417"/>
            <a:ext cx="631402" cy="481507"/>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25409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Handling Files and </a:t>
            </a:r>
            <a:r>
              <a:rPr lang="en-US" b="1" dirty="0" smtClean="0"/>
              <a:t>Images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4977058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54061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 theoretical introduction to drawing in </a:t>
            </a:r>
            <a:r>
              <a:rPr lang="en-US" b="1" dirty="0" err="1" smtClean="0"/>
              <a:t>OpenCV</a:t>
            </a:r>
            <a:endParaRPr lang="en-US" dirty="0"/>
          </a:p>
        </p:txBody>
      </p:sp>
      <p:sp>
        <p:nvSpPr>
          <p:cNvPr id="3" name="Content Placeholder 2"/>
          <p:cNvSpPr>
            <a:spLocks noGrp="1"/>
          </p:cNvSpPr>
          <p:nvPr>
            <p:ph idx="1"/>
          </p:nvPr>
        </p:nvSpPr>
        <p:spPr/>
        <p:txBody>
          <a:bodyPr/>
          <a:lstStyle/>
          <a:p>
            <a:r>
              <a:rPr lang="en-US" dirty="0" err="1"/>
              <a:t>OpenCV</a:t>
            </a:r>
            <a:r>
              <a:rPr lang="en-US" dirty="0"/>
              <a:t> provides many functions to draw basic shapes. Common basic shapes include lines, rectangles, and circles. However, with </a:t>
            </a:r>
            <a:r>
              <a:rPr lang="en-US" dirty="0" err="1"/>
              <a:t>OpenCV</a:t>
            </a:r>
            <a:r>
              <a:rPr lang="en-US" dirty="0"/>
              <a:t> we can draw more basic shapes. As mentioned briefly in the introduction, it is a common approach to draw basic shapes on the image in order to do the following:</a:t>
            </a:r>
          </a:p>
          <a:p>
            <a:r>
              <a:rPr lang="en-US" dirty="0"/>
              <a:t>Show some intermediate results of your algorithm</a:t>
            </a:r>
          </a:p>
          <a:p>
            <a:r>
              <a:rPr lang="en-US" dirty="0"/>
              <a:t>Show the final results of your algorithm</a:t>
            </a:r>
          </a:p>
          <a:p>
            <a:r>
              <a:rPr lang="en-US" dirty="0"/>
              <a:t>Show some debugging </a:t>
            </a:r>
            <a:r>
              <a:rPr lang="en-US" dirty="0" smtClean="0"/>
              <a:t>information</a:t>
            </a:r>
            <a:endParaRPr lang="en-US" dirty="0"/>
          </a:p>
        </p:txBody>
      </p:sp>
    </p:spTree>
    <p:extLst>
      <p:ext uri="{BB962C8B-B14F-4D97-AF65-F5344CB8AC3E}">
        <p14:creationId xmlns:p14="http://schemas.microsoft.com/office/powerpoint/2010/main" val="384267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Display useful information on images</a:t>
            </a:r>
            <a:endParaRPr lang="en-US" dirty="0"/>
          </a:p>
        </p:txBody>
      </p:sp>
      <p:sp>
        <p:nvSpPr>
          <p:cNvPr id="3" name="Content Placeholder 2"/>
          <p:cNvSpPr>
            <a:spLocks noGrp="1"/>
          </p:cNvSpPr>
          <p:nvPr>
            <p:ph sz="half" idx="1"/>
          </p:nvPr>
        </p:nvSpPr>
        <p:spPr>
          <a:xfrm>
            <a:off x="838199" y="1825625"/>
            <a:ext cx="6045485" cy="3916540"/>
          </a:xfrm>
        </p:spPr>
        <p:txBody>
          <a:bodyPr>
            <a:normAutofit lnSpcReduction="10000"/>
          </a:bodyPr>
          <a:lstStyle/>
          <a:p>
            <a:r>
              <a:rPr lang="en-US" dirty="0"/>
              <a:t>In the next screenshot, you can see an image modified to include some useful information in connection with the two algorithms mentioned in the introduction (face detection and face recognition). In this way, you can process all the images in a directory and, afterward, you can see where your algorithm has detected wrong faces (false positives) or even missing faces (false negatives):</a:t>
            </a:r>
            <a:endParaRPr lang="en-US" dirty="0"/>
          </a:p>
        </p:txBody>
      </p:sp>
      <p:pic>
        <p:nvPicPr>
          <p:cNvPr id="8" name="Content Placeholder 7"/>
          <p:cNvPicPr>
            <a:picLocks noGrp="1" noChangeAspect="1"/>
          </p:cNvPicPr>
          <p:nvPr>
            <p:ph sz="half" idx="2"/>
          </p:nvPr>
        </p:nvPicPr>
        <p:blipFill>
          <a:blip r:embed="rId2"/>
          <a:stretch>
            <a:fillRect/>
          </a:stretch>
        </p:blipFill>
        <p:spPr>
          <a:xfrm>
            <a:off x="7138761" y="2515186"/>
            <a:ext cx="3248478" cy="2972215"/>
          </a:xfrm>
          <a:prstGeom prst="rect">
            <a:avLst/>
          </a:prstGeom>
        </p:spPr>
      </p:pic>
      <p:sp>
        <p:nvSpPr>
          <p:cNvPr id="9" name="Rectangle 8"/>
          <p:cNvSpPr/>
          <p:nvPr/>
        </p:nvSpPr>
        <p:spPr>
          <a:xfrm>
            <a:off x="381000" y="5742165"/>
            <a:ext cx="11811000" cy="923330"/>
          </a:xfrm>
          <a:prstGeom prst="rect">
            <a:avLst/>
          </a:prstGeom>
        </p:spPr>
        <p:txBody>
          <a:bodyPr wrap="square">
            <a:spAutoFit/>
          </a:bodyPr>
          <a:lstStyle/>
          <a:p>
            <a:r>
              <a:rPr lang="en-US" i="1" dirty="0">
                <a:solidFill>
                  <a:srgbClr val="000000"/>
                </a:solidFill>
                <a:latin typeface="Georgia" panose="02040502050405020303" pitchFamily="18" charset="0"/>
              </a:rPr>
              <a:t> </a:t>
            </a:r>
            <a:r>
              <a:rPr lang="en-US" b="1" dirty="0">
                <a:solidFill>
                  <a:srgbClr val="000000"/>
                </a:solidFill>
                <a:latin typeface="Georgia" panose="02040502050405020303" pitchFamily="18" charset="0"/>
              </a:rPr>
              <a:t>false positive</a:t>
            </a:r>
            <a:r>
              <a:rPr lang="en-US" i="1" dirty="0">
                <a:solidFill>
                  <a:srgbClr val="000000"/>
                </a:solidFill>
                <a:latin typeface="Georgia" panose="02040502050405020303" pitchFamily="18" charset="0"/>
              </a:rPr>
              <a:t> is an error where the result indicates the presence of a condition when in reality the condition is not satisfied (for example, a chair is classified as a face). A </a:t>
            </a:r>
            <a:r>
              <a:rPr lang="en-US" b="1" dirty="0">
                <a:solidFill>
                  <a:srgbClr val="000000"/>
                </a:solidFill>
                <a:latin typeface="Georgia" panose="02040502050405020303" pitchFamily="18" charset="0"/>
              </a:rPr>
              <a:t>false negative</a:t>
            </a:r>
            <a:r>
              <a:rPr lang="en-US" i="1" dirty="0">
                <a:solidFill>
                  <a:srgbClr val="000000"/>
                </a:solidFill>
                <a:latin typeface="Georgia" panose="02040502050405020303" pitchFamily="18" charset="0"/>
              </a:rPr>
              <a:t> is an error where the result indicates the absence of a condition when in reality the condition should be satisfied (for example, a face is not detected).</a:t>
            </a:r>
            <a:endParaRPr lang="en-US" dirty="0"/>
          </a:p>
        </p:txBody>
      </p:sp>
    </p:spTree>
    <p:extLst>
      <p:ext uri="{BB962C8B-B14F-4D97-AF65-F5344CB8AC3E}">
        <p14:creationId xmlns:p14="http://schemas.microsoft.com/office/powerpoint/2010/main" val="1964340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colors dictionary</a:t>
            </a:r>
            <a:endParaRPr lang="en-US" dirty="0"/>
          </a:p>
        </p:txBody>
      </p:sp>
      <p:pic>
        <p:nvPicPr>
          <p:cNvPr id="4" name="Content Placeholder 3"/>
          <p:cNvPicPr>
            <a:picLocks noGrp="1" noChangeAspect="1"/>
          </p:cNvPicPr>
          <p:nvPr>
            <p:ph idx="1"/>
          </p:nvPr>
        </p:nvPicPr>
        <p:blipFill>
          <a:blip r:embed="rId2"/>
          <a:stretch>
            <a:fillRect/>
          </a:stretch>
        </p:blipFill>
        <p:spPr>
          <a:xfrm>
            <a:off x="2304521" y="1934080"/>
            <a:ext cx="7582958" cy="4134427"/>
          </a:xfrm>
          <a:prstGeom prst="rect">
            <a:avLst/>
          </a:prstGeom>
        </p:spPr>
      </p:pic>
    </p:spTree>
    <p:extLst>
      <p:ext uri="{BB962C8B-B14F-4D97-AF65-F5344CB8AC3E}">
        <p14:creationId xmlns:p14="http://schemas.microsoft.com/office/powerpoint/2010/main" val="342712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constant colors file</a:t>
            </a:r>
            <a:endParaRPr lang="en-US" dirty="0"/>
          </a:p>
        </p:txBody>
      </p:sp>
      <p:sp>
        <p:nvSpPr>
          <p:cNvPr id="3" name="Content Placeholder 2"/>
          <p:cNvSpPr>
            <a:spLocks noGrp="1"/>
          </p:cNvSpPr>
          <p:nvPr>
            <p:ph idx="1"/>
          </p:nvPr>
        </p:nvSpPr>
        <p:spPr>
          <a:xfrm>
            <a:off x="838200" y="1825625"/>
            <a:ext cx="10062681" cy="4801206"/>
          </a:xfrm>
        </p:spPr>
        <p:txBody>
          <a:bodyPr>
            <a:normAutofit fontScale="70000" lnSpcReduction="20000"/>
          </a:bodyPr>
          <a:lstStyle/>
          <a:p>
            <a:r>
              <a:rPr lang="en-US" dirty="0"/>
              <a:t>A common approach is to create a constant.py file to define the colors. Each color is defined by a constant</a:t>
            </a:r>
            <a:r>
              <a:rPr lang="en-US" dirty="0" smtClean="0"/>
              <a:t>:</a:t>
            </a:r>
          </a:p>
          <a:p>
            <a:r>
              <a:rPr lang="en-US" dirty="0"/>
              <a:t>"""</a:t>
            </a:r>
          </a:p>
          <a:p>
            <a:r>
              <a:rPr lang="en-US" dirty="0"/>
              <a:t>Common colors triplets (BGR space) to use in </a:t>
            </a:r>
            <a:r>
              <a:rPr lang="en-US" dirty="0" err="1"/>
              <a:t>OpenCV</a:t>
            </a:r>
            <a:endParaRPr lang="en-US" dirty="0"/>
          </a:p>
          <a:p>
            <a:r>
              <a:rPr lang="en-US" dirty="0"/>
              <a:t>"""</a:t>
            </a:r>
          </a:p>
          <a:p>
            <a:endParaRPr lang="en-US" dirty="0"/>
          </a:p>
          <a:p>
            <a:r>
              <a:rPr lang="en-US" dirty="0"/>
              <a:t>BLUE = (255, 0, 0)</a:t>
            </a:r>
          </a:p>
          <a:p>
            <a:r>
              <a:rPr lang="en-US" dirty="0"/>
              <a:t>GREEN = (0, 255, 0)</a:t>
            </a:r>
          </a:p>
          <a:p>
            <a:r>
              <a:rPr lang="en-US" dirty="0"/>
              <a:t>RED = (0, 0, 255)</a:t>
            </a:r>
          </a:p>
          <a:p>
            <a:r>
              <a:rPr lang="en-US" dirty="0"/>
              <a:t>YELLOW = (0, 255, 255)</a:t>
            </a:r>
          </a:p>
          <a:p>
            <a:r>
              <a:rPr lang="en-US" dirty="0"/>
              <a:t>MAGENTA = (255, 0, 255)</a:t>
            </a:r>
          </a:p>
          <a:p>
            <a:r>
              <a:rPr lang="en-US" dirty="0"/>
              <a:t>CYAN = (255, 255, 0)</a:t>
            </a:r>
          </a:p>
          <a:p>
            <a:r>
              <a:rPr lang="en-US" dirty="0"/>
              <a:t>DARK_GRAY = (50, 50, 50)</a:t>
            </a:r>
          </a:p>
          <a:p>
            <a:r>
              <a:rPr lang="en-US" dirty="0"/>
              <a:t>...</a:t>
            </a:r>
            <a:endParaRPr lang="en-US" dirty="0" smtClean="0"/>
          </a:p>
          <a:p>
            <a:pPr marL="0" indent="0">
              <a:buNone/>
            </a:pPr>
            <a:endParaRPr lang="en-US" dirty="0"/>
          </a:p>
        </p:txBody>
      </p:sp>
    </p:spTree>
    <p:extLst>
      <p:ext uri="{BB962C8B-B14F-4D97-AF65-F5344CB8AC3E}">
        <p14:creationId xmlns:p14="http://schemas.microsoft.com/office/powerpoint/2010/main" val="1203110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a:t>
            </a:r>
            <a:r>
              <a:rPr lang="en-US" dirty="0"/>
              <a:t>use these constants</a:t>
            </a:r>
          </a:p>
        </p:txBody>
      </p:sp>
      <p:sp>
        <p:nvSpPr>
          <p:cNvPr id="3" name="Content Placeholder 2"/>
          <p:cNvSpPr>
            <a:spLocks noGrp="1"/>
          </p:cNvSpPr>
          <p:nvPr>
            <p:ph idx="1"/>
          </p:nvPr>
        </p:nvSpPr>
        <p:spPr/>
        <p:txBody>
          <a:bodyPr/>
          <a:lstStyle/>
          <a:p>
            <a:pPr marL="0" indent="0">
              <a:buNone/>
            </a:pPr>
            <a:r>
              <a:rPr lang="en-US" dirty="0"/>
              <a:t>The following code will enable you to use these constants:</a:t>
            </a:r>
          </a:p>
          <a:p>
            <a:pPr marL="0" indent="0">
              <a:buNone/>
            </a:pPr>
            <a:endParaRPr lang="en-US" dirty="0"/>
          </a:p>
          <a:p>
            <a:pPr marL="0" indent="0">
              <a:buNone/>
            </a:pPr>
            <a:r>
              <a:rPr lang="en-US" dirty="0">
                <a:solidFill>
                  <a:srgbClr val="00B0F0"/>
                </a:solidFill>
              </a:rPr>
              <a:t>import constant</a:t>
            </a:r>
          </a:p>
          <a:p>
            <a:pPr marL="0" indent="0">
              <a:buNone/>
            </a:pPr>
            <a:r>
              <a:rPr lang="en-US" dirty="0" smtClean="0"/>
              <a:t># </a:t>
            </a:r>
            <a:r>
              <a:rPr lang="en-US" dirty="0"/>
              <a:t>Getting red color:</a:t>
            </a:r>
          </a:p>
          <a:p>
            <a:pPr marL="0" indent="0">
              <a:buNone/>
            </a:pPr>
            <a:r>
              <a:rPr lang="en-US" dirty="0"/>
              <a:t>print("red: '{}'".</a:t>
            </a:r>
            <a:r>
              <a:rPr lang="en-US" dirty="0" smtClean="0"/>
              <a:t>format(</a:t>
            </a:r>
            <a:r>
              <a:rPr lang="en-US" dirty="0" err="1" smtClean="0"/>
              <a:t>constant.RED</a:t>
            </a:r>
            <a:r>
              <a:rPr lang="en-US" dirty="0" smtClean="0"/>
              <a:t>))</a:t>
            </a:r>
          </a:p>
          <a:p>
            <a:pPr marL="0" indent="0">
              <a:buNone/>
            </a:pPr>
            <a:endParaRPr lang="en-US" dirty="0"/>
          </a:p>
          <a:p>
            <a:pPr marL="0" indent="0">
              <a:buNone/>
            </a:pPr>
            <a:r>
              <a:rPr lang="en-US" dirty="0"/>
              <a:t>Constants are usually specified in capital letters (for example, BLUE) and with underscores between the words (for example, DARK_GRAY).</a:t>
            </a:r>
          </a:p>
        </p:txBody>
      </p:sp>
    </p:spTree>
    <p:extLst>
      <p:ext uri="{BB962C8B-B14F-4D97-AF65-F5344CB8AC3E}">
        <p14:creationId xmlns:p14="http://schemas.microsoft.com/office/powerpoint/2010/main" val="500992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Matplotlib</a:t>
            </a:r>
            <a:r>
              <a:rPr lang="en-US" dirty="0" smtClean="0"/>
              <a:t> function for </a:t>
            </a:r>
            <a:r>
              <a:rPr lang="en-US" dirty="0" err="1" smtClean="0"/>
              <a:t>ploting</a:t>
            </a:r>
            <a:endParaRPr lang="en-US" dirty="0"/>
          </a:p>
        </p:txBody>
      </p:sp>
      <p:sp>
        <p:nvSpPr>
          <p:cNvPr id="3" name="Content Placeholder 2"/>
          <p:cNvSpPr>
            <a:spLocks noGrp="1"/>
          </p:cNvSpPr>
          <p:nvPr>
            <p:ph idx="1"/>
          </p:nvPr>
        </p:nvSpPr>
        <p:spPr/>
        <p:txBody>
          <a:bodyPr/>
          <a:lstStyle/>
          <a:p>
            <a:r>
              <a:rPr lang="en-US" dirty="0"/>
              <a:t>Additionally, as we are going to plot the figures using </a:t>
            </a:r>
            <a:r>
              <a:rPr lang="en-US" dirty="0" err="1"/>
              <a:t>Matplotlib</a:t>
            </a:r>
            <a:r>
              <a:rPr lang="en-US" dirty="0"/>
              <a:t>, we have created a </a:t>
            </a:r>
            <a:r>
              <a:rPr lang="en-US" dirty="0" err="1"/>
              <a:t>show_with_matplotlib</a:t>
            </a:r>
            <a:r>
              <a:rPr lang="en-US" dirty="0"/>
              <a:t>() function with two arguments. The first one is the image we want to show, and the second is the title of the figure to plot. Therefore, the first step of this function converts the BGR image to RGB, because you have to show color images with </a:t>
            </a:r>
            <a:r>
              <a:rPr lang="en-US" dirty="0" err="1"/>
              <a:t>Matplotlib</a:t>
            </a:r>
            <a:r>
              <a:rPr lang="en-US" dirty="0"/>
              <a:t>. The second and final step of this function is to show the image using </a:t>
            </a:r>
            <a:r>
              <a:rPr lang="en-US" dirty="0" err="1"/>
              <a:t>Matplotlib</a:t>
            </a:r>
            <a:r>
              <a:rPr lang="en-US" dirty="0"/>
              <a:t> capabilities. To put these pieces together, the testing_colors.py script has been coded. In this script, we draw some lines, each one in a color of the dictionary.</a:t>
            </a:r>
          </a:p>
        </p:txBody>
      </p:sp>
    </p:spTree>
    <p:extLst>
      <p:ext uri="{BB962C8B-B14F-4D97-AF65-F5344CB8AC3E}">
        <p14:creationId xmlns:p14="http://schemas.microsoft.com/office/powerpoint/2010/main" val="2846594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code to create the dictionary is shown here:</a:t>
            </a:r>
            <a:endParaRPr lang="en-US" dirty="0"/>
          </a:p>
        </p:txBody>
      </p:sp>
      <p:sp>
        <p:nvSpPr>
          <p:cNvPr id="3" name="Content Placeholder 2"/>
          <p:cNvSpPr>
            <a:spLocks noGrp="1"/>
          </p:cNvSpPr>
          <p:nvPr>
            <p:ph idx="1"/>
          </p:nvPr>
        </p:nvSpPr>
        <p:spPr/>
        <p:txBody>
          <a:bodyPr>
            <a:normAutofit fontScale="92500" lnSpcReduction="20000"/>
          </a:bodyPr>
          <a:lstStyle/>
          <a:p>
            <a:endParaRPr lang="en-US" dirty="0"/>
          </a:p>
          <a:p>
            <a:r>
              <a:rPr lang="en-US" dirty="0"/>
              <a:t># Dictionary containing some colors</a:t>
            </a:r>
          </a:p>
          <a:p>
            <a:pPr marL="0" indent="0">
              <a:buNone/>
            </a:pPr>
            <a:r>
              <a:rPr lang="en-US" dirty="0"/>
              <a:t>colors = {'blue': (255, 0, 0), 'green': (0, 255, 0), 'red': (0, 0, 255), 'yellow': (0, 255, 255), 'magenta': (255, 0, 255), 'cyan': (255, 255, 0), 'white': (255, 255, 255), 'black': (0, 0, 0), 'gray': (125, 125, 125), 'rand': </a:t>
            </a:r>
            <a:r>
              <a:rPr lang="en-US" dirty="0" err="1"/>
              <a:t>np.random.randint</a:t>
            </a:r>
            <a:r>
              <a:rPr lang="en-US" dirty="0"/>
              <a:t>(0, high=256, size=(3,)).</a:t>
            </a:r>
            <a:r>
              <a:rPr lang="en-US" dirty="0" err="1"/>
              <a:t>tolist</a:t>
            </a:r>
            <a:r>
              <a:rPr lang="en-US" dirty="0"/>
              <a:t>(), '</a:t>
            </a:r>
            <a:r>
              <a:rPr lang="en-US" dirty="0" err="1"/>
              <a:t>dark_gray</a:t>
            </a:r>
            <a:r>
              <a:rPr lang="en-US" dirty="0"/>
              <a:t>': (50, 50, 50), '</a:t>
            </a:r>
            <a:r>
              <a:rPr lang="en-US" dirty="0" err="1"/>
              <a:t>light_gray</a:t>
            </a:r>
            <a:r>
              <a:rPr lang="en-US" dirty="0"/>
              <a:t>': (220, 220, 220</a:t>
            </a:r>
            <a:r>
              <a:rPr lang="en-US" dirty="0" smtClean="0"/>
              <a:t>)}</a:t>
            </a:r>
          </a:p>
          <a:p>
            <a:r>
              <a:rPr lang="en-US" dirty="0"/>
              <a:t>You can see that some predefined colors are included in this dictionary—blue, green, red, yellow, magenta, cyan, white, black, gray, a random one, gray, </a:t>
            </a:r>
            <a:r>
              <a:rPr lang="en-US" dirty="0" err="1"/>
              <a:t>dark_gray</a:t>
            </a:r>
            <a:r>
              <a:rPr lang="en-US" dirty="0"/>
              <a:t>, and </a:t>
            </a:r>
            <a:r>
              <a:rPr lang="en-US" dirty="0" err="1"/>
              <a:t>light_gray</a:t>
            </a:r>
            <a:r>
              <a:rPr lang="en-US" dirty="0"/>
              <a:t>. If you want to use a specific color (for example, magenta), you should perform the following:</a:t>
            </a:r>
          </a:p>
          <a:p>
            <a:r>
              <a:rPr lang="en-US" dirty="0"/>
              <a:t>colors['magenta']</a:t>
            </a:r>
          </a:p>
        </p:txBody>
      </p:sp>
    </p:spTree>
    <p:extLst>
      <p:ext uri="{BB962C8B-B14F-4D97-AF65-F5344CB8AC3E}">
        <p14:creationId xmlns:p14="http://schemas.microsoft.com/office/powerpoint/2010/main" val="3572757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 do not need to memorize</a:t>
            </a:r>
          </a:p>
        </p:txBody>
      </p:sp>
      <p:sp>
        <p:nvSpPr>
          <p:cNvPr id="3" name="Content Placeholder 2"/>
          <p:cNvSpPr>
            <a:spLocks noGrp="1"/>
          </p:cNvSpPr>
          <p:nvPr>
            <p:ph idx="1"/>
          </p:nvPr>
        </p:nvSpPr>
        <p:spPr/>
        <p:txBody>
          <a:bodyPr/>
          <a:lstStyle/>
          <a:p>
            <a:r>
              <a:rPr lang="en-US" dirty="0"/>
              <a:t>Alternatively, you can use (255, 0, 255) to get the magenta color. But it is easier to use this dictionary rather than write triplets of numbers, because you do not need to memorize the addition properties of the RGB color space (adding blue—(255,0,0) and red—(0,0,255) gives magenta—(255, 0, 255) ). Remember that you can use constant.py to perform this functionality.</a:t>
            </a:r>
          </a:p>
        </p:txBody>
      </p:sp>
    </p:spTree>
    <p:extLst>
      <p:ext uri="{BB962C8B-B14F-4D97-AF65-F5344CB8AC3E}">
        <p14:creationId xmlns:p14="http://schemas.microsoft.com/office/powerpoint/2010/main" val="1504879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normAutofit lnSpcReduction="10000"/>
          </a:bodyPr>
          <a:lstStyle/>
          <a:p>
            <a:r>
              <a:rPr lang="en-US" dirty="0"/>
              <a:t>we have created the testing_colors.py script. If you execute it, you will see the next </a:t>
            </a:r>
            <a:r>
              <a:rPr lang="en-US" dirty="0" smtClean="0"/>
              <a:t>screens</a:t>
            </a:r>
          </a:p>
          <a:p>
            <a:r>
              <a:rPr lang="en-US" dirty="0" smtClean="0"/>
              <a:t>In this example, we have created an image of size 500  500, with the 3 channels (we want a color image) and a uint8 type (8-bit unsigned integers). We have created it with a black background: </a:t>
            </a:r>
            <a:endParaRPr lang="en-US" dirty="0"/>
          </a:p>
        </p:txBody>
      </p:sp>
      <p:pic>
        <p:nvPicPr>
          <p:cNvPr id="7" name="Content Placeholder 6"/>
          <p:cNvPicPr>
            <a:picLocks noGrp="1" noChangeAspect="1"/>
          </p:cNvPicPr>
          <p:nvPr>
            <p:ph sz="half" idx="2"/>
          </p:nvPr>
        </p:nvPicPr>
        <p:blipFill>
          <a:blip r:embed="rId2"/>
          <a:stretch>
            <a:fillRect/>
          </a:stretch>
        </p:blipFill>
        <p:spPr>
          <a:xfrm>
            <a:off x="6243804" y="1825625"/>
            <a:ext cx="5038391" cy="4351338"/>
          </a:xfrm>
          <a:prstGeom prst="rect">
            <a:avLst/>
          </a:prstGeom>
        </p:spPr>
      </p:pic>
    </p:spTree>
    <p:extLst>
      <p:ext uri="{BB962C8B-B14F-4D97-AF65-F5344CB8AC3E}">
        <p14:creationId xmlns:p14="http://schemas.microsoft.com/office/powerpoint/2010/main" val="1354183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dirty="0"/>
              <a:t># We create the canvas to draw: 400 x 400 pixels, 3 channels, uint8 (8-bit unsigned integers)</a:t>
            </a:r>
          </a:p>
          <a:p>
            <a:pPr marL="0" indent="0">
              <a:buNone/>
            </a:pPr>
            <a:r>
              <a:rPr lang="en-US" dirty="0"/>
              <a:t># We set background to black using </a:t>
            </a:r>
            <a:r>
              <a:rPr lang="en-US" dirty="0" err="1"/>
              <a:t>np.zeros</a:t>
            </a:r>
            <a:r>
              <a:rPr lang="en-US" dirty="0"/>
              <a:t>()</a:t>
            </a:r>
          </a:p>
          <a:p>
            <a:pPr marL="0" indent="0">
              <a:buNone/>
            </a:pPr>
            <a:r>
              <a:rPr lang="en-US" dirty="0"/>
              <a:t>image = </a:t>
            </a:r>
            <a:r>
              <a:rPr lang="en-US" dirty="0" err="1"/>
              <a:t>np.zeros</a:t>
            </a:r>
            <a:r>
              <a:rPr lang="en-US" dirty="0"/>
              <a:t>((500, 500, 3), </a:t>
            </a:r>
            <a:r>
              <a:rPr lang="en-US" dirty="0" err="1"/>
              <a:t>dtype</a:t>
            </a:r>
            <a:r>
              <a:rPr lang="en-US" dirty="0"/>
              <a:t>="uint8")</a:t>
            </a:r>
          </a:p>
          <a:p>
            <a:pPr marL="0" indent="0">
              <a:buNone/>
            </a:pPr>
            <a:endParaRPr lang="en-US" dirty="0"/>
          </a:p>
          <a:p>
            <a:pPr marL="0" indent="0">
              <a:buNone/>
            </a:pPr>
            <a:r>
              <a:rPr lang="en-US" dirty="0"/>
              <a:t>In this case, we want to set the background to light gray, not black. If you want to change the background, you can perform the following:</a:t>
            </a:r>
          </a:p>
          <a:p>
            <a:pPr marL="0" indent="0">
              <a:buNone/>
            </a:pPr>
            <a:endParaRPr lang="en-US" dirty="0"/>
          </a:p>
          <a:p>
            <a:pPr marL="0" indent="0">
              <a:buNone/>
            </a:pPr>
            <a:r>
              <a:rPr lang="en-US" dirty="0"/>
              <a:t># If you want another background color, you can do the following:</a:t>
            </a:r>
          </a:p>
          <a:p>
            <a:pPr marL="0" indent="0">
              <a:buNone/>
            </a:pPr>
            <a:r>
              <a:rPr lang="en-US" dirty="0"/>
              <a:t>image[:] = colors['</a:t>
            </a:r>
            <a:r>
              <a:rPr lang="en-US" dirty="0" err="1"/>
              <a:t>light_gray</a:t>
            </a:r>
            <a:r>
              <a:rPr lang="en-US" dirty="0"/>
              <a:t>']</a:t>
            </a:r>
          </a:p>
        </p:txBody>
      </p:sp>
    </p:spTree>
    <p:extLst>
      <p:ext uri="{BB962C8B-B14F-4D97-AF65-F5344CB8AC3E}">
        <p14:creationId xmlns:p14="http://schemas.microsoft.com/office/powerpoint/2010/main" val="3144212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Next, we add the functionality of drawing some lines, each one in a color of the dictionary. It should be noted that in the next section we are going to see how to create some basic shapes, so do not worry if you don't understand the code to create the lines:</a:t>
            </a:r>
          </a:p>
          <a:p>
            <a:pPr marL="0" indent="0">
              <a:buNone/>
            </a:pPr>
            <a:r>
              <a:rPr lang="en-US" dirty="0" smtClean="0"/>
              <a:t># </a:t>
            </a:r>
            <a:r>
              <a:rPr lang="en-US" dirty="0"/>
              <a:t>We draw all the colors to test the dictionary</a:t>
            </a:r>
          </a:p>
          <a:p>
            <a:pPr marL="0" indent="0">
              <a:buNone/>
            </a:pPr>
            <a:r>
              <a:rPr lang="en-US" dirty="0"/>
              <a:t># We draw some lines, each one in a color. To get the color, use 'colors[key]'</a:t>
            </a:r>
          </a:p>
          <a:p>
            <a:pPr marL="0" indent="0">
              <a:buNone/>
            </a:pPr>
            <a:r>
              <a:rPr lang="en-US" dirty="0"/>
              <a:t>separation = 40</a:t>
            </a:r>
          </a:p>
          <a:p>
            <a:pPr marL="0" indent="0">
              <a:buNone/>
            </a:pPr>
            <a:r>
              <a:rPr lang="en-US" dirty="0"/>
              <a:t>for key in colors:</a:t>
            </a:r>
          </a:p>
          <a:p>
            <a:pPr marL="0" indent="0">
              <a:buNone/>
            </a:pPr>
            <a:r>
              <a:rPr lang="en-US" dirty="0"/>
              <a:t>cv2.line(image, (0, separation), (500, separation), colors[key], 10)</a:t>
            </a:r>
          </a:p>
          <a:p>
            <a:pPr marL="0" indent="0">
              <a:buNone/>
            </a:pPr>
            <a:r>
              <a:rPr lang="en-US" dirty="0"/>
              <a:t>separation += 40</a:t>
            </a:r>
          </a:p>
          <a:p>
            <a:pPr marL="0" indent="0">
              <a:buNone/>
            </a:pPr>
            <a:r>
              <a:rPr lang="en-US" dirty="0"/>
              <a:t>And finally, we draw the image using the created </a:t>
            </a:r>
            <a:r>
              <a:rPr lang="en-US" dirty="0" err="1"/>
              <a:t>show_with_matplotlib</a:t>
            </a:r>
            <a:r>
              <a:rPr lang="en-US" dirty="0"/>
              <a:t>() function:</a:t>
            </a:r>
          </a:p>
          <a:p>
            <a:pPr marL="0" indent="0">
              <a:buNone/>
            </a:pPr>
            <a:r>
              <a:rPr lang="en-US" dirty="0" smtClean="0"/>
              <a:t># </a:t>
            </a:r>
            <a:r>
              <a:rPr lang="en-US" dirty="0"/>
              <a:t>Show image:</a:t>
            </a:r>
          </a:p>
          <a:p>
            <a:pPr marL="0" indent="0">
              <a:buNone/>
            </a:pPr>
            <a:r>
              <a:rPr lang="en-US" dirty="0" err="1"/>
              <a:t>show_with_matplotlib</a:t>
            </a:r>
            <a:r>
              <a:rPr lang="en-US" dirty="0"/>
              <a:t>(image, 'Dictionary with some predefined colors')</a:t>
            </a:r>
          </a:p>
          <a:p>
            <a:r>
              <a:rPr lang="en-US" dirty="0"/>
              <a:t>The two arguments of </a:t>
            </a:r>
            <a:r>
              <a:rPr lang="en-US" dirty="0" err="1"/>
              <a:t>show_with_matplotlib</a:t>
            </a:r>
            <a:r>
              <a:rPr lang="en-US" dirty="0"/>
              <a:t>() are the image to plot and the title to show. So now we are ready to start creating some basic shapes with </a:t>
            </a:r>
            <a:r>
              <a:rPr lang="en-US" dirty="0" err="1"/>
              <a:t>OpenCV</a:t>
            </a:r>
            <a:r>
              <a:rPr lang="en-US" dirty="0"/>
              <a:t> and Python.</a:t>
            </a:r>
          </a:p>
        </p:txBody>
      </p:sp>
    </p:spTree>
    <p:extLst>
      <p:ext uri="{BB962C8B-B14F-4D97-AF65-F5344CB8AC3E}">
        <p14:creationId xmlns:p14="http://schemas.microsoft.com/office/powerpoint/2010/main" val="2959317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shapes</a:t>
            </a:r>
            <a:br>
              <a:rPr lang="en-US" b="1" dirty="0"/>
            </a:br>
            <a:endParaRPr lang="en-US" dirty="0"/>
          </a:p>
        </p:txBody>
      </p:sp>
      <p:sp>
        <p:nvSpPr>
          <p:cNvPr id="3" name="Content Placeholder 2"/>
          <p:cNvSpPr>
            <a:spLocks noGrp="1"/>
          </p:cNvSpPr>
          <p:nvPr>
            <p:ph idx="1"/>
          </p:nvPr>
        </p:nvSpPr>
        <p:spPr/>
        <p:txBody>
          <a:bodyPr/>
          <a:lstStyle/>
          <a:p>
            <a:r>
              <a:rPr lang="en-US" dirty="0"/>
              <a:t>In this section, we are going to see how to draw shapes using </a:t>
            </a:r>
            <a:r>
              <a:rPr lang="en-US" dirty="0" err="1"/>
              <a:t>OpenCV</a:t>
            </a:r>
            <a:r>
              <a:rPr lang="en-US" dirty="0"/>
              <a:t> capabilities. Firstly, we will look at how to draw the basic shapes, and then we will focus on more advanced shapes.</a:t>
            </a:r>
            <a:endParaRPr lang="en-US" dirty="0"/>
          </a:p>
        </p:txBody>
      </p:sp>
    </p:spTree>
    <p:extLst>
      <p:ext uri="{BB962C8B-B14F-4D97-AF65-F5344CB8AC3E}">
        <p14:creationId xmlns:p14="http://schemas.microsoft.com/office/powerpoint/2010/main" val="2251107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Basic shapes – lines, rectangles, and circles</a:t>
            </a:r>
          </a:p>
        </p:txBody>
      </p:sp>
      <p:sp>
        <p:nvSpPr>
          <p:cNvPr id="5" name="Content Placeholder 4"/>
          <p:cNvSpPr>
            <a:spLocks noGrp="1"/>
          </p:cNvSpPr>
          <p:nvPr>
            <p:ph sz="half" idx="1"/>
          </p:nvPr>
        </p:nvSpPr>
        <p:spPr/>
        <p:txBody>
          <a:bodyPr>
            <a:normAutofit fontScale="55000" lnSpcReduction="20000"/>
          </a:bodyPr>
          <a:lstStyle/>
          <a:p>
            <a:r>
              <a:rPr lang="en-US" dirty="0"/>
              <a:t>In the next example, we are going to see how to draw basic shapes in </a:t>
            </a:r>
            <a:r>
              <a:rPr lang="en-US" dirty="0" err="1"/>
              <a:t>OpenCV</a:t>
            </a:r>
            <a:r>
              <a:rPr lang="en-US" dirty="0"/>
              <a:t>. These basic shapes include lines, rectangles, and circles, which are the most common and simple shapes to draw. The first step is to create an image where the shapes will be drawn. To this end, a 400  400 image with the 3 channels (to properly display a BGR image) and a uint8 type (8-bit unsigned integers) will be created:</a:t>
            </a:r>
          </a:p>
          <a:p>
            <a:endParaRPr lang="en-US" dirty="0"/>
          </a:p>
          <a:p>
            <a:r>
              <a:rPr lang="en-US" dirty="0"/>
              <a:t># We create the canvas to draw: 400 x 400 pixels, 3 channels, uint8 (8-bit unsigned integers)</a:t>
            </a:r>
          </a:p>
          <a:p>
            <a:r>
              <a:rPr lang="en-US" dirty="0"/>
              <a:t># We set the background to black using </a:t>
            </a:r>
            <a:r>
              <a:rPr lang="en-US" dirty="0" err="1"/>
              <a:t>np.zeros</a:t>
            </a:r>
            <a:r>
              <a:rPr lang="en-US" dirty="0"/>
              <a:t>()</a:t>
            </a:r>
          </a:p>
          <a:p>
            <a:r>
              <a:rPr lang="en-US" dirty="0"/>
              <a:t>image = </a:t>
            </a:r>
            <a:r>
              <a:rPr lang="en-US" dirty="0" err="1"/>
              <a:t>np.zeros</a:t>
            </a:r>
            <a:r>
              <a:rPr lang="en-US" dirty="0"/>
              <a:t>((400, 400, 3), </a:t>
            </a:r>
            <a:r>
              <a:rPr lang="en-US" dirty="0" err="1"/>
              <a:t>dtype</a:t>
            </a:r>
            <a:r>
              <a:rPr lang="en-US" dirty="0"/>
              <a:t>="uint8")</a:t>
            </a:r>
          </a:p>
          <a:p>
            <a:endParaRPr lang="en-US" dirty="0"/>
          </a:p>
          <a:p>
            <a:r>
              <a:rPr lang="en-US" dirty="0"/>
              <a:t>We set the background to light gray using the colors dictionary:</a:t>
            </a:r>
          </a:p>
          <a:p>
            <a:endParaRPr lang="en-US" dirty="0"/>
          </a:p>
          <a:p>
            <a:r>
              <a:rPr lang="en-US" dirty="0"/>
              <a:t># If you want another background color, you can do the following:</a:t>
            </a:r>
          </a:p>
          <a:p>
            <a:r>
              <a:rPr lang="en-US" dirty="0"/>
              <a:t>image[:] = colors['</a:t>
            </a:r>
            <a:r>
              <a:rPr lang="en-US" dirty="0" err="1"/>
              <a:t>light_gray</a:t>
            </a:r>
            <a:r>
              <a:rPr lang="en-US" dirty="0"/>
              <a:t>']</a:t>
            </a:r>
          </a:p>
        </p:txBody>
      </p:sp>
      <p:pic>
        <p:nvPicPr>
          <p:cNvPr id="7" name="Content Placeholder 6"/>
          <p:cNvPicPr>
            <a:picLocks noGrp="1" noChangeAspect="1"/>
          </p:cNvPicPr>
          <p:nvPr>
            <p:ph sz="half" idx="2"/>
          </p:nvPr>
        </p:nvPicPr>
        <p:blipFill>
          <a:blip r:embed="rId2"/>
          <a:stretch>
            <a:fillRect/>
          </a:stretch>
        </p:blipFill>
        <p:spPr>
          <a:xfrm>
            <a:off x="6207046" y="1825625"/>
            <a:ext cx="5111907" cy="4351338"/>
          </a:xfrm>
          <a:prstGeom prst="rect">
            <a:avLst/>
          </a:prstGeom>
        </p:spPr>
      </p:pic>
    </p:spTree>
    <p:extLst>
      <p:ext uri="{BB962C8B-B14F-4D97-AF65-F5344CB8AC3E}">
        <p14:creationId xmlns:p14="http://schemas.microsoft.com/office/powerpoint/2010/main" val="2327033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most drawing functions</a:t>
            </a:r>
          </a:p>
        </p:txBody>
      </p:sp>
      <p:sp>
        <p:nvSpPr>
          <p:cNvPr id="3" name="Content Placeholder 2"/>
          <p:cNvSpPr>
            <a:spLocks noGrp="1"/>
          </p:cNvSpPr>
          <p:nvPr>
            <p:ph idx="1"/>
          </p:nvPr>
        </p:nvSpPr>
        <p:spPr/>
        <p:txBody>
          <a:bodyPr>
            <a:normAutofit fontScale="70000" lnSpcReduction="20000"/>
          </a:bodyPr>
          <a:lstStyle/>
          <a:p>
            <a:r>
              <a:rPr lang="en-US" dirty="0"/>
              <a:t>Now, we are ready to draw the basic shapes. It should be noted that most drawing functions that </a:t>
            </a:r>
            <a:r>
              <a:rPr lang="en-US" dirty="0" err="1"/>
              <a:t>OpenCV</a:t>
            </a:r>
            <a:r>
              <a:rPr lang="en-US" dirty="0"/>
              <a:t> provides have common parameters. For the sake of simplicity, these parameters are briefly introduced here:</a:t>
            </a:r>
          </a:p>
          <a:p>
            <a:endParaRPr lang="en-US" dirty="0"/>
          </a:p>
          <a:p>
            <a:r>
              <a:rPr lang="en-US" dirty="0" err="1"/>
              <a:t>img</a:t>
            </a:r>
            <a:r>
              <a:rPr lang="en-US" dirty="0"/>
              <a:t>: It is the image where the shape will be drawn.</a:t>
            </a:r>
          </a:p>
          <a:p>
            <a:r>
              <a:rPr lang="en-US" dirty="0"/>
              <a:t>color: It is the color (BGR triplet) used to draw the shape.</a:t>
            </a:r>
          </a:p>
          <a:p>
            <a:r>
              <a:rPr lang="en-US" dirty="0"/>
              <a:t>thickness: If this value is positive, it is the thickness of the shape outline. Otherwise, a filled shape will be drawn.</a:t>
            </a:r>
          </a:p>
          <a:p>
            <a:r>
              <a:rPr lang="en-US" dirty="0" err="1"/>
              <a:t>lineType</a:t>
            </a:r>
            <a:r>
              <a:rPr lang="en-US" dirty="0"/>
              <a:t>: It is the type of the shape boundary. </a:t>
            </a:r>
            <a:r>
              <a:rPr lang="en-US" dirty="0" err="1"/>
              <a:t>OpenCV</a:t>
            </a:r>
            <a:r>
              <a:rPr lang="en-US" dirty="0"/>
              <a:t> provides three types of line:</a:t>
            </a:r>
          </a:p>
          <a:p>
            <a:r>
              <a:rPr lang="en-US" dirty="0"/>
              <a:t>cv2.LINE_4: This means four-connected lines</a:t>
            </a:r>
          </a:p>
          <a:p>
            <a:r>
              <a:rPr lang="en-US" dirty="0"/>
              <a:t>cv2.LINE_8: This means eight-connected lines</a:t>
            </a:r>
          </a:p>
          <a:p>
            <a:r>
              <a:rPr lang="en-US" dirty="0"/>
              <a:t>cv2.LINE_AA: This means an anti-aliased line</a:t>
            </a:r>
          </a:p>
          <a:p>
            <a:r>
              <a:rPr lang="en-US" dirty="0"/>
              <a:t>shift: This indicates the number of fractional bits in connection with the coordinates of some points defining the shape.</a:t>
            </a:r>
          </a:p>
          <a:p>
            <a:endParaRPr lang="en-US" dirty="0"/>
          </a:p>
        </p:txBody>
      </p:sp>
    </p:spTree>
    <p:extLst>
      <p:ext uri="{BB962C8B-B14F-4D97-AF65-F5344CB8AC3E}">
        <p14:creationId xmlns:p14="http://schemas.microsoft.com/office/powerpoint/2010/main" val="830312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In connection with the aforementioned parameters, the cv2.LINE_AA option for </a:t>
            </a:r>
            <a:r>
              <a:rPr lang="en-US" dirty="0" err="1"/>
              <a:t>lineType</a:t>
            </a:r>
            <a:r>
              <a:rPr lang="en-US" dirty="0"/>
              <a:t> produces a much better quality drawing (for example, when drawing text), but it is slower to draw. So, this consideration should be taken into account. Both the eight-connected and the four-connected lines, which are non-</a:t>
            </a:r>
            <a:r>
              <a:rPr lang="en-US" dirty="0" err="1"/>
              <a:t>antialiased</a:t>
            </a:r>
            <a:r>
              <a:rPr lang="en-US" dirty="0"/>
              <a:t> lines, are drawn with the </a:t>
            </a:r>
            <a:r>
              <a:rPr lang="en-US" dirty="0" err="1"/>
              <a:t>Bresenham</a:t>
            </a:r>
            <a:r>
              <a:rPr lang="en-US" dirty="0"/>
              <a:t> algorithm. For the anti-aliased line type, the Gaussian filtering algorithm is used. Additionally, the shift parameter is necessary because many drawing functions can't deal with sub-pixel accuracy. For simplicity in our examples, we are going to work with integer coordinates. Therefore, this value will be set to 0 (shift = 0). However to give you a complete understanding, an example of how to use the shift parameter will also be provided.</a:t>
            </a:r>
          </a:p>
          <a:p>
            <a:endParaRPr lang="en-US" dirty="0"/>
          </a:p>
          <a:p>
            <a:r>
              <a:rPr lang="en-US" dirty="0"/>
              <a:t>Remember that, for all the examples included in this section, a canvas has been created to draw all the shapes. This canvas is a 400 x 400 pixel image, with a light gray background. See the previous screenshot, which shows this canvas.</a:t>
            </a:r>
          </a:p>
        </p:txBody>
      </p:sp>
    </p:spTree>
    <p:extLst>
      <p:ext uri="{BB962C8B-B14F-4D97-AF65-F5344CB8AC3E}">
        <p14:creationId xmlns:p14="http://schemas.microsoft.com/office/powerpoint/2010/main" val="404327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lines</a:t>
            </a:r>
          </a:p>
        </p:txBody>
      </p:sp>
      <p:sp>
        <p:nvSpPr>
          <p:cNvPr id="3" name="Content Placeholder 2"/>
          <p:cNvSpPr>
            <a:spLocks noGrp="1"/>
          </p:cNvSpPr>
          <p:nvPr>
            <p:ph sz="half" idx="1"/>
          </p:nvPr>
        </p:nvSpPr>
        <p:spPr/>
        <p:txBody>
          <a:bodyPr>
            <a:normAutofit fontScale="62500" lnSpcReduction="20000"/>
          </a:bodyPr>
          <a:lstStyle/>
          <a:p>
            <a:r>
              <a:rPr lang="en-US" dirty="0"/>
              <a:t>The first function we are going to see is cv2.line(). The signature is as follows:</a:t>
            </a:r>
          </a:p>
          <a:p>
            <a:endParaRPr lang="en-US" dirty="0"/>
          </a:p>
          <a:p>
            <a:r>
              <a:rPr lang="en-US" dirty="0" err="1"/>
              <a:t>img</a:t>
            </a:r>
            <a:r>
              <a:rPr lang="en-US" dirty="0"/>
              <a:t> = line(</a:t>
            </a:r>
            <a:r>
              <a:rPr lang="en-US" dirty="0" err="1"/>
              <a:t>img</a:t>
            </a:r>
            <a:r>
              <a:rPr lang="en-US" dirty="0"/>
              <a:t>, pt1, pt2, color, thickness=1, </a:t>
            </a:r>
            <a:r>
              <a:rPr lang="en-US" dirty="0" err="1"/>
              <a:t>lineType</a:t>
            </a:r>
            <a:r>
              <a:rPr lang="en-US" dirty="0"/>
              <a:t>=8, shift=0)</a:t>
            </a:r>
          </a:p>
          <a:p>
            <a:r>
              <a:rPr lang="en-US" dirty="0"/>
              <a:t>This function draws a line on the </a:t>
            </a:r>
            <a:r>
              <a:rPr lang="en-US" dirty="0" err="1"/>
              <a:t>img</a:t>
            </a:r>
            <a:r>
              <a:rPr lang="en-US" dirty="0"/>
              <a:t> image connecting pt1 and pt2:</a:t>
            </a:r>
          </a:p>
          <a:p>
            <a:endParaRPr lang="en-US" dirty="0"/>
          </a:p>
          <a:p>
            <a:r>
              <a:rPr lang="en-US" dirty="0"/>
              <a:t>cv2.line(image, (0, 0), (400, 400), colors['green'], 3)</a:t>
            </a:r>
          </a:p>
          <a:p>
            <a:r>
              <a:rPr lang="en-US" dirty="0"/>
              <a:t>cv2.line(image, (0, 400), (400, 0), colors['blue'], 10)</a:t>
            </a:r>
          </a:p>
          <a:p>
            <a:r>
              <a:rPr lang="en-US" dirty="0"/>
              <a:t>cv2.line(image, (200, 0), (200, 400), colors['red'], 3)</a:t>
            </a:r>
          </a:p>
          <a:p>
            <a:r>
              <a:rPr lang="en-US" dirty="0"/>
              <a:t>cv2.line(image, (0, 200), (400, 200), colors['yellow'], 10)</a:t>
            </a:r>
          </a:p>
          <a:p>
            <a:r>
              <a:rPr lang="en-US" dirty="0"/>
              <a:t>After coding these lines, we call the </a:t>
            </a:r>
            <a:r>
              <a:rPr lang="en-US" dirty="0" err="1"/>
              <a:t>show_with_matplotlib</a:t>
            </a:r>
            <a:r>
              <a:rPr lang="en-US" dirty="0"/>
              <a:t>(image, 'cv2.line()') function. The result is shown in the next screenshot:</a:t>
            </a:r>
          </a:p>
        </p:txBody>
      </p:sp>
      <p:pic>
        <p:nvPicPr>
          <p:cNvPr id="6" name="Content Placeholder 5"/>
          <p:cNvPicPr>
            <a:picLocks noGrp="1" noChangeAspect="1"/>
          </p:cNvPicPr>
          <p:nvPr>
            <p:ph sz="half" idx="2"/>
          </p:nvPr>
        </p:nvPicPr>
        <p:blipFill>
          <a:blip r:embed="rId2"/>
          <a:stretch>
            <a:fillRect/>
          </a:stretch>
        </p:blipFill>
        <p:spPr>
          <a:xfrm>
            <a:off x="6194220" y="1825625"/>
            <a:ext cx="5137560" cy="4351338"/>
          </a:xfrm>
          <a:prstGeom prst="rect">
            <a:avLst/>
          </a:prstGeom>
        </p:spPr>
      </p:pic>
    </p:spTree>
    <p:extLst>
      <p:ext uri="{BB962C8B-B14F-4D97-AF65-F5344CB8AC3E}">
        <p14:creationId xmlns:p14="http://schemas.microsoft.com/office/powerpoint/2010/main" val="543398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a:t>
            </a:r>
            <a:r>
              <a:rPr lang="en-US" b="1" dirty="0" smtClean="0"/>
              <a:t>rectangles</a:t>
            </a:r>
            <a:endParaRPr lang="en-US" dirty="0"/>
          </a:p>
        </p:txBody>
      </p:sp>
      <p:sp>
        <p:nvSpPr>
          <p:cNvPr id="4" name="Content Placeholder 3"/>
          <p:cNvSpPr>
            <a:spLocks noGrp="1"/>
          </p:cNvSpPr>
          <p:nvPr>
            <p:ph sz="half" idx="1"/>
          </p:nvPr>
        </p:nvSpPr>
        <p:spPr/>
        <p:txBody>
          <a:bodyPr>
            <a:normAutofit fontScale="55000" lnSpcReduction="20000"/>
          </a:bodyPr>
          <a:lstStyle/>
          <a:p>
            <a:r>
              <a:rPr lang="en-US" dirty="0"/>
              <a:t>The signature for the cv2.rectangle() function is as follows:</a:t>
            </a:r>
          </a:p>
          <a:p>
            <a:endParaRPr lang="en-US" dirty="0"/>
          </a:p>
          <a:p>
            <a:pPr marL="0" indent="0">
              <a:buNone/>
            </a:pPr>
            <a:r>
              <a:rPr lang="en-US" dirty="0" err="1"/>
              <a:t>img</a:t>
            </a:r>
            <a:r>
              <a:rPr lang="en-US" dirty="0"/>
              <a:t> = rectangle(</a:t>
            </a:r>
            <a:r>
              <a:rPr lang="en-US" dirty="0" err="1"/>
              <a:t>img</a:t>
            </a:r>
            <a:r>
              <a:rPr lang="en-US" dirty="0"/>
              <a:t>, pt1, pt2, color, thickness=1, </a:t>
            </a:r>
            <a:r>
              <a:rPr lang="en-US" dirty="0" err="1"/>
              <a:t>lineType</a:t>
            </a:r>
            <a:r>
              <a:rPr lang="en-US" dirty="0"/>
              <a:t>=8, shift=0)</a:t>
            </a:r>
          </a:p>
          <a:p>
            <a:pPr marL="0" indent="0">
              <a:buNone/>
            </a:pPr>
            <a:r>
              <a:rPr lang="en-US" dirty="0"/>
              <a:t>This function draws a rectangle given the two opposite corners, pt1 and pt2:</a:t>
            </a:r>
          </a:p>
          <a:p>
            <a:pPr marL="0" indent="0">
              <a:buNone/>
            </a:pPr>
            <a:endParaRPr lang="en-US" dirty="0"/>
          </a:p>
          <a:p>
            <a:pPr marL="0" indent="0">
              <a:buNone/>
            </a:pPr>
            <a:r>
              <a:rPr lang="en-US" dirty="0"/>
              <a:t>cv2.rectangle(image, (10, 50), (60, 300), colors['green'], 3)</a:t>
            </a:r>
          </a:p>
          <a:p>
            <a:pPr marL="0" indent="0">
              <a:buNone/>
            </a:pPr>
            <a:r>
              <a:rPr lang="en-US" dirty="0"/>
              <a:t>cv2.rectangle(image, (80, 50), (130, 300), colors['blue'], -1)</a:t>
            </a:r>
          </a:p>
          <a:p>
            <a:pPr marL="0" indent="0">
              <a:buNone/>
            </a:pPr>
            <a:r>
              <a:rPr lang="en-US" dirty="0"/>
              <a:t>cv2.rectangle(image, (150, 50), (350, 100), colors['red'], -1)</a:t>
            </a:r>
          </a:p>
          <a:p>
            <a:pPr marL="0" indent="0">
              <a:buNone/>
            </a:pPr>
            <a:r>
              <a:rPr lang="en-US" dirty="0"/>
              <a:t>cv2.rectangle(image, (150, 150), (350, 300), colors['cyan'], 10)</a:t>
            </a:r>
          </a:p>
          <a:p>
            <a:r>
              <a:rPr lang="en-US" dirty="0"/>
              <a:t>After drawing these rectangles, we call the </a:t>
            </a:r>
            <a:r>
              <a:rPr lang="en-US" dirty="0" err="1"/>
              <a:t>show_with_matplotlib</a:t>
            </a:r>
            <a:r>
              <a:rPr lang="en-US" dirty="0"/>
              <a:t>(image, 'cv2.rectangle()')function. The result is shown in the next screenshot</a:t>
            </a:r>
            <a:r>
              <a:rPr lang="en-US" dirty="0" smtClean="0"/>
              <a:t>:</a:t>
            </a:r>
          </a:p>
          <a:p>
            <a:endParaRPr lang="en-US" dirty="0"/>
          </a:p>
          <a:p>
            <a:r>
              <a:rPr lang="en-US" dirty="0" smtClean="0"/>
              <a:t>Remember </a:t>
            </a:r>
            <a:r>
              <a:rPr lang="en-US" dirty="0"/>
              <a:t>that negative values (for example, -1) for the thickness parameter mean that a filled shape will be drawn.</a:t>
            </a:r>
          </a:p>
        </p:txBody>
      </p:sp>
      <p:pic>
        <p:nvPicPr>
          <p:cNvPr id="6" name="Content Placeholder 5"/>
          <p:cNvPicPr>
            <a:picLocks noGrp="1" noChangeAspect="1"/>
          </p:cNvPicPr>
          <p:nvPr>
            <p:ph sz="half" idx="2"/>
          </p:nvPr>
        </p:nvPicPr>
        <p:blipFill>
          <a:blip r:embed="rId2"/>
          <a:stretch>
            <a:fillRect/>
          </a:stretch>
        </p:blipFill>
        <p:spPr>
          <a:xfrm>
            <a:off x="6207017" y="1825625"/>
            <a:ext cx="5111965" cy="4351338"/>
          </a:xfrm>
          <a:prstGeom prst="rect">
            <a:avLst/>
          </a:prstGeom>
        </p:spPr>
      </p:pic>
    </p:spTree>
    <p:extLst>
      <p:ext uri="{BB962C8B-B14F-4D97-AF65-F5344CB8AC3E}">
        <p14:creationId xmlns:p14="http://schemas.microsoft.com/office/powerpoint/2010/main" val="4076787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circles</a:t>
            </a:r>
            <a:br>
              <a:rPr lang="en-US" b="1" dirty="0"/>
            </a:br>
            <a:endParaRPr lang="en-US" dirty="0"/>
          </a:p>
        </p:txBody>
      </p:sp>
      <p:sp>
        <p:nvSpPr>
          <p:cNvPr id="4" name="Content Placeholder 3"/>
          <p:cNvSpPr>
            <a:spLocks noGrp="1"/>
          </p:cNvSpPr>
          <p:nvPr>
            <p:ph sz="half" idx="1"/>
          </p:nvPr>
        </p:nvSpPr>
        <p:spPr/>
        <p:txBody>
          <a:bodyPr>
            <a:normAutofit fontScale="47500" lnSpcReduction="20000"/>
          </a:bodyPr>
          <a:lstStyle/>
          <a:p>
            <a:r>
              <a:rPr lang="en-US" dirty="0"/>
              <a:t>The signature for the cv2.circle() function is as follows:</a:t>
            </a:r>
          </a:p>
          <a:p>
            <a:endParaRPr lang="en-US" dirty="0"/>
          </a:p>
          <a:p>
            <a:pPr marL="0" indent="0">
              <a:buNone/>
            </a:pPr>
            <a:r>
              <a:rPr lang="en-US" dirty="0" err="1"/>
              <a:t>img</a:t>
            </a:r>
            <a:r>
              <a:rPr lang="en-US" dirty="0"/>
              <a:t> = circle(</a:t>
            </a:r>
            <a:r>
              <a:rPr lang="en-US" dirty="0" err="1"/>
              <a:t>img</a:t>
            </a:r>
            <a:r>
              <a:rPr lang="en-US" dirty="0"/>
              <a:t>, center, radius, color, thickness=1, </a:t>
            </a:r>
            <a:r>
              <a:rPr lang="en-US" dirty="0" err="1"/>
              <a:t>lineType</a:t>
            </a:r>
            <a:r>
              <a:rPr lang="en-US" dirty="0"/>
              <a:t>=8, shift=0)</a:t>
            </a:r>
          </a:p>
          <a:p>
            <a:pPr marL="0" indent="0">
              <a:buNone/>
            </a:pPr>
            <a:r>
              <a:rPr lang="en-US" dirty="0"/>
              <a:t>This function draws a circle with a radius </a:t>
            </a:r>
            <a:r>
              <a:rPr lang="en-US" dirty="0" err="1"/>
              <a:t>radius</a:t>
            </a:r>
            <a:r>
              <a:rPr lang="en-US" dirty="0"/>
              <a:t> centered in the center position. Some circles are defined in the following code:</a:t>
            </a:r>
          </a:p>
          <a:p>
            <a:pPr marL="0" indent="0">
              <a:buNone/>
            </a:pPr>
            <a:endParaRPr lang="en-US" dirty="0"/>
          </a:p>
          <a:p>
            <a:pPr marL="0" indent="0">
              <a:buNone/>
            </a:pPr>
            <a:r>
              <a:rPr lang="en-US" dirty="0"/>
              <a:t>cv2.circle(image, (50, 50), 20, colors['green'], 3)</a:t>
            </a:r>
          </a:p>
          <a:p>
            <a:pPr marL="0" indent="0">
              <a:buNone/>
            </a:pPr>
            <a:r>
              <a:rPr lang="en-US" dirty="0"/>
              <a:t>cv2.circle(image, (100, 100), 30, colors['blue'], -1)</a:t>
            </a:r>
          </a:p>
          <a:p>
            <a:pPr marL="0" indent="0">
              <a:buNone/>
            </a:pPr>
            <a:r>
              <a:rPr lang="en-US" dirty="0"/>
              <a:t>cv2.circle(image, (200, 200), 40, colors['magenta'], 10)</a:t>
            </a:r>
          </a:p>
          <a:p>
            <a:pPr marL="0" indent="0">
              <a:buNone/>
            </a:pPr>
            <a:r>
              <a:rPr lang="en-US" dirty="0"/>
              <a:t>cv2.circle(image, (300, 300), 40, colors['cyan'], -1)</a:t>
            </a:r>
          </a:p>
          <a:p>
            <a:r>
              <a:rPr lang="en-US" dirty="0"/>
              <a:t>After drawing these circles, we call the </a:t>
            </a:r>
            <a:r>
              <a:rPr lang="en-US" dirty="0" err="1"/>
              <a:t>show_with_matplotlib</a:t>
            </a:r>
            <a:r>
              <a:rPr lang="en-US" dirty="0"/>
              <a:t>(image, 'cv2.circle()')function. The result is shown </a:t>
            </a:r>
            <a:endParaRPr lang="en-US" dirty="0" smtClean="0"/>
          </a:p>
          <a:p>
            <a:endParaRPr lang="en-US" dirty="0"/>
          </a:p>
          <a:p>
            <a:endParaRPr lang="en-US" dirty="0" smtClean="0"/>
          </a:p>
          <a:p>
            <a:r>
              <a:rPr lang="en-US" dirty="0"/>
              <a:t>he full code of the examples of this section can be seen in basic_drawing.py. in the next screenshot:</a:t>
            </a:r>
          </a:p>
        </p:txBody>
      </p:sp>
      <p:pic>
        <p:nvPicPr>
          <p:cNvPr id="6" name="Content Placeholder 5"/>
          <p:cNvPicPr>
            <a:picLocks noGrp="1" noChangeAspect="1"/>
          </p:cNvPicPr>
          <p:nvPr>
            <p:ph sz="half" idx="2"/>
          </p:nvPr>
        </p:nvPicPr>
        <p:blipFill>
          <a:blip r:embed="rId2"/>
          <a:stretch>
            <a:fillRect/>
          </a:stretch>
        </p:blipFill>
        <p:spPr>
          <a:xfrm>
            <a:off x="6172200" y="1879079"/>
            <a:ext cx="5181600" cy="4244430"/>
          </a:xfrm>
          <a:prstGeom prst="rect">
            <a:avLst/>
          </a:prstGeom>
        </p:spPr>
      </p:pic>
    </p:spTree>
    <p:extLst>
      <p:ext uri="{BB962C8B-B14F-4D97-AF65-F5344CB8AC3E}">
        <p14:creationId xmlns:p14="http://schemas.microsoft.com/office/powerpoint/2010/main" val="1839046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Understanding advanced </a:t>
            </a:r>
            <a:r>
              <a:rPr lang="en-US" b="1" dirty="0" smtClean="0"/>
              <a:t>shapes</a:t>
            </a:r>
            <a:endParaRPr lang="en-US" dirty="0"/>
          </a:p>
        </p:txBody>
      </p:sp>
      <p:sp>
        <p:nvSpPr>
          <p:cNvPr id="3" name="Content Placeholder 2"/>
          <p:cNvSpPr>
            <a:spLocks noGrp="1"/>
          </p:cNvSpPr>
          <p:nvPr>
            <p:ph idx="1"/>
          </p:nvPr>
        </p:nvSpPr>
        <p:spPr/>
        <p:txBody>
          <a:bodyPr>
            <a:normAutofit fontScale="70000" lnSpcReduction="20000"/>
          </a:bodyPr>
          <a:lstStyle/>
          <a:p>
            <a:r>
              <a:rPr lang="en-US" dirty="0"/>
              <a:t>In this section, we are going to see how to draw clip lines, arrowed lines, ellipses, and polylines. These shapes are not as straightforward to draw as the shapes we saw in the previous section, but they are simple to understand. The first step is to create an image where the shapes will be drawn. For this, a 300  300 image with the 3 channels (to properly display a BGR image) and a uint8 type (8-bit unsigned integers) will be created:</a:t>
            </a:r>
          </a:p>
          <a:p>
            <a:pPr marL="0" indent="0">
              <a:buNone/>
            </a:pPr>
            <a:endParaRPr lang="en-US" dirty="0"/>
          </a:p>
          <a:p>
            <a:pPr marL="0" indent="0">
              <a:buNone/>
            </a:pPr>
            <a:r>
              <a:rPr lang="en-US" dirty="0"/>
              <a:t># We create the canvas to draw: 300 x 300 pixels, 3 channels, uint8 (8-bit unsigned integers)</a:t>
            </a:r>
          </a:p>
          <a:p>
            <a:pPr marL="0" indent="0">
              <a:buNone/>
            </a:pPr>
            <a:r>
              <a:rPr lang="en-US" dirty="0"/>
              <a:t># We set the background to black using </a:t>
            </a:r>
            <a:r>
              <a:rPr lang="en-US" dirty="0" err="1"/>
              <a:t>np.zeros</a:t>
            </a:r>
            <a:r>
              <a:rPr lang="en-US" dirty="0"/>
              <a:t>()</a:t>
            </a:r>
          </a:p>
          <a:p>
            <a:pPr marL="0" indent="0">
              <a:buNone/>
            </a:pPr>
            <a:r>
              <a:rPr lang="en-US" dirty="0"/>
              <a:t>image = </a:t>
            </a:r>
            <a:r>
              <a:rPr lang="en-US" dirty="0" err="1"/>
              <a:t>np.zeros</a:t>
            </a:r>
            <a:r>
              <a:rPr lang="en-US" dirty="0"/>
              <a:t>((300, 300, 3), </a:t>
            </a:r>
            <a:r>
              <a:rPr lang="en-US" dirty="0" err="1"/>
              <a:t>dtype</a:t>
            </a:r>
            <a:r>
              <a:rPr lang="en-US" dirty="0"/>
              <a:t>="uint8")</a:t>
            </a:r>
          </a:p>
          <a:p>
            <a:pPr marL="0" indent="0">
              <a:buNone/>
            </a:pPr>
            <a:r>
              <a:rPr lang="en-US" dirty="0"/>
              <a:t>We set the background to light gray using the colors dictionary:</a:t>
            </a:r>
          </a:p>
          <a:p>
            <a:pPr marL="0" indent="0">
              <a:buNone/>
            </a:pPr>
            <a:endParaRPr lang="en-US" dirty="0"/>
          </a:p>
          <a:p>
            <a:pPr marL="0" indent="0">
              <a:buNone/>
            </a:pPr>
            <a:r>
              <a:rPr lang="en-US" dirty="0"/>
              <a:t># If you want another background color, you can do the following:</a:t>
            </a:r>
          </a:p>
          <a:p>
            <a:pPr marL="0" indent="0">
              <a:buNone/>
            </a:pPr>
            <a:r>
              <a:rPr lang="en-US" dirty="0"/>
              <a:t>image[:] = colors['</a:t>
            </a:r>
            <a:r>
              <a:rPr lang="en-US" dirty="0" err="1"/>
              <a:t>light_gray</a:t>
            </a:r>
            <a:r>
              <a:rPr lang="en-US" dirty="0" smtClean="0"/>
              <a:t>']</a:t>
            </a:r>
          </a:p>
          <a:p>
            <a:pPr marL="0" indent="0">
              <a:buNone/>
            </a:pPr>
            <a:r>
              <a:rPr lang="en-US" dirty="0"/>
              <a:t>At this point, we can start drawing the new shapes.</a:t>
            </a:r>
          </a:p>
        </p:txBody>
      </p:sp>
    </p:spTree>
    <p:extLst>
      <p:ext uri="{BB962C8B-B14F-4D97-AF65-F5344CB8AC3E}">
        <p14:creationId xmlns:p14="http://schemas.microsoft.com/office/powerpoint/2010/main" val="3820955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a clip </a:t>
            </a:r>
            <a:r>
              <a:rPr lang="en-US" b="1" dirty="0" smtClean="0"/>
              <a:t>line</a:t>
            </a:r>
            <a:endParaRPr lang="en-US" dirty="0"/>
          </a:p>
        </p:txBody>
      </p:sp>
      <p:sp>
        <p:nvSpPr>
          <p:cNvPr id="3" name="Content Placeholder 2"/>
          <p:cNvSpPr>
            <a:spLocks noGrp="1"/>
          </p:cNvSpPr>
          <p:nvPr>
            <p:ph sz="half" idx="1"/>
          </p:nvPr>
        </p:nvSpPr>
        <p:spPr/>
        <p:txBody>
          <a:bodyPr>
            <a:normAutofit fontScale="47500" lnSpcReduction="20000"/>
          </a:bodyPr>
          <a:lstStyle/>
          <a:p>
            <a:r>
              <a:rPr lang="en-US" dirty="0"/>
              <a:t>The signature for the cv2.clipLine() function is as follows as follows:</a:t>
            </a:r>
          </a:p>
          <a:p>
            <a:endParaRPr lang="en-US" dirty="0"/>
          </a:p>
          <a:p>
            <a:pPr marL="0" indent="0">
              <a:buNone/>
            </a:pPr>
            <a:r>
              <a:rPr lang="en-US" dirty="0" err="1"/>
              <a:t>retval</a:t>
            </a:r>
            <a:r>
              <a:rPr lang="en-US" dirty="0"/>
              <a:t>, pt1, pt2 = </a:t>
            </a:r>
            <a:r>
              <a:rPr lang="en-US" dirty="0" err="1"/>
              <a:t>clipLine</a:t>
            </a:r>
            <a:r>
              <a:rPr lang="en-US" dirty="0"/>
              <a:t>(</a:t>
            </a:r>
            <a:r>
              <a:rPr lang="en-US" dirty="0" err="1"/>
              <a:t>imgRect</a:t>
            </a:r>
            <a:r>
              <a:rPr lang="en-US" dirty="0"/>
              <a:t>, pt1, pt2)</a:t>
            </a:r>
          </a:p>
          <a:p>
            <a:pPr marL="0" indent="0">
              <a:buNone/>
            </a:pPr>
            <a:r>
              <a:rPr lang="en-US" dirty="0"/>
              <a:t>The cv2.clipLine() function returns the segment (defined by the pt1 and pt2 output points) inside the rectangle (the function clips the segment against the defined rectangle). In this sense, </a:t>
            </a:r>
            <a:r>
              <a:rPr lang="en-US" dirty="0" err="1"/>
              <a:t>retval</a:t>
            </a:r>
            <a:r>
              <a:rPr lang="en-US" dirty="0"/>
              <a:t> is False, if the two original pt1 and pt2 points are both outside the rectangle. Otherwise (some of the two pt1 or pt2 points are inside the rectangle) this function returns True. This can be more clearly seen with the next piece of code:</a:t>
            </a:r>
          </a:p>
          <a:p>
            <a:pPr marL="0" indent="0">
              <a:buNone/>
            </a:pPr>
            <a:endParaRPr lang="en-US" dirty="0"/>
          </a:p>
          <a:p>
            <a:pPr marL="0" indent="0">
              <a:buNone/>
            </a:pPr>
            <a:r>
              <a:rPr lang="en-US" dirty="0"/>
              <a:t>cv2.line(image, (0, 0), (300, 300), colors['green'], 3)</a:t>
            </a:r>
          </a:p>
          <a:p>
            <a:pPr marL="0" indent="0">
              <a:buNone/>
            </a:pPr>
            <a:r>
              <a:rPr lang="en-US" dirty="0"/>
              <a:t>cv2.rectangle(image, (0, 0), (100, 100), colors['blue'], 3)</a:t>
            </a:r>
          </a:p>
          <a:p>
            <a:pPr marL="0" indent="0">
              <a:buNone/>
            </a:pPr>
            <a:r>
              <a:rPr lang="en-US" dirty="0"/>
              <a:t>ret, p1, p2 = cv2.clipLine((0, 0, 100, 100), (0, 0), (300, 300))</a:t>
            </a:r>
          </a:p>
          <a:p>
            <a:pPr marL="0" indent="0">
              <a:buNone/>
            </a:pPr>
            <a:r>
              <a:rPr lang="en-US" dirty="0"/>
              <a:t>if ret:</a:t>
            </a:r>
          </a:p>
          <a:p>
            <a:pPr marL="0" indent="0">
              <a:buNone/>
            </a:pPr>
            <a:r>
              <a:rPr lang="en-US" dirty="0"/>
              <a:t>    cv2.line(image, p1, p2, colors['yellow'], 3)</a:t>
            </a:r>
          </a:p>
          <a:p>
            <a:r>
              <a:rPr lang="en-US" dirty="0"/>
              <a:t>In the next screenshot, you can see the resultant figure after executing this piece of code:</a:t>
            </a:r>
          </a:p>
        </p:txBody>
      </p:sp>
      <p:pic>
        <p:nvPicPr>
          <p:cNvPr id="5" name="Content Placeholder 4"/>
          <p:cNvPicPr>
            <a:picLocks noGrp="1" noChangeAspect="1"/>
          </p:cNvPicPr>
          <p:nvPr>
            <p:ph sz="half" idx="2"/>
          </p:nvPr>
        </p:nvPicPr>
        <p:blipFill>
          <a:blip r:embed="rId2"/>
          <a:stretch>
            <a:fillRect/>
          </a:stretch>
        </p:blipFill>
        <p:spPr>
          <a:xfrm>
            <a:off x="6226524" y="1825625"/>
            <a:ext cx="5072952" cy="4351338"/>
          </a:xfrm>
          <a:prstGeom prst="rect">
            <a:avLst/>
          </a:prstGeom>
        </p:spPr>
      </p:pic>
    </p:spTree>
    <p:extLst>
      <p:ext uri="{BB962C8B-B14F-4D97-AF65-F5344CB8AC3E}">
        <p14:creationId xmlns:p14="http://schemas.microsoft.com/office/powerpoint/2010/main" val="1361174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280" y="-22055"/>
            <a:ext cx="10515600" cy="1325563"/>
          </a:xfrm>
        </p:spPr>
        <p:txBody>
          <a:bodyPr/>
          <a:lstStyle/>
          <a:p>
            <a:r>
              <a:rPr lang="en-US" b="1" dirty="0"/>
              <a:t>Drawing </a:t>
            </a:r>
            <a:r>
              <a:rPr lang="en-US" b="1" dirty="0" smtClean="0"/>
              <a:t>arrows</a:t>
            </a:r>
            <a:endParaRPr lang="en-US" dirty="0"/>
          </a:p>
        </p:txBody>
      </p:sp>
      <p:sp>
        <p:nvSpPr>
          <p:cNvPr id="3" name="Content Placeholder 2"/>
          <p:cNvSpPr>
            <a:spLocks noGrp="1"/>
          </p:cNvSpPr>
          <p:nvPr>
            <p:ph sz="half" idx="1"/>
          </p:nvPr>
        </p:nvSpPr>
        <p:spPr>
          <a:xfrm>
            <a:off x="766280" y="1291369"/>
            <a:ext cx="5181600" cy="4351338"/>
          </a:xfrm>
        </p:spPr>
        <p:txBody>
          <a:bodyPr>
            <a:normAutofit fontScale="55000" lnSpcReduction="20000"/>
          </a:bodyPr>
          <a:lstStyle/>
          <a:p>
            <a:r>
              <a:rPr lang="en-US" dirty="0"/>
              <a:t>The signature for this function is as follows:</a:t>
            </a:r>
          </a:p>
          <a:p>
            <a:endParaRPr lang="en-US" dirty="0"/>
          </a:p>
          <a:p>
            <a:r>
              <a:rPr lang="en-US" dirty="0" err="1"/>
              <a:t>cv.arrowedLine</a:t>
            </a:r>
            <a:r>
              <a:rPr lang="en-US" dirty="0"/>
              <a:t>(</a:t>
            </a:r>
            <a:r>
              <a:rPr lang="en-US" dirty="0" err="1"/>
              <a:t>img</a:t>
            </a:r>
            <a:r>
              <a:rPr lang="en-US" dirty="0"/>
              <a:t>, pt1, pt2, color, thickness=1, </a:t>
            </a:r>
            <a:r>
              <a:rPr lang="en-US" dirty="0" err="1"/>
              <a:t>lineType</a:t>
            </a:r>
            <a:r>
              <a:rPr lang="en-US" dirty="0"/>
              <a:t>=8, shift=0, </a:t>
            </a:r>
            <a:r>
              <a:rPr lang="en-US" dirty="0" err="1"/>
              <a:t>tipLength</a:t>
            </a:r>
            <a:r>
              <a:rPr lang="en-US" dirty="0"/>
              <a:t>=0.1)</a:t>
            </a:r>
          </a:p>
          <a:p>
            <a:r>
              <a:rPr lang="en-US" dirty="0"/>
              <a:t>This function allows you to create an arrow, which points from the first point defined by pt1 to the second point defined by pt2. The length of the arrow tip can be controlled by the </a:t>
            </a:r>
            <a:r>
              <a:rPr lang="en-US" dirty="0" err="1"/>
              <a:t>tipLength</a:t>
            </a:r>
            <a:r>
              <a:rPr lang="en-US" dirty="0"/>
              <a:t> parameter, which is defined in relation to the segment length (distance between pt1 and pt2):</a:t>
            </a:r>
          </a:p>
          <a:p>
            <a:endParaRPr lang="en-US" dirty="0"/>
          </a:p>
          <a:p>
            <a:r>
              <a:rPr lang="en-US" dirty="0"/>
              <a:t>cv2.arrowedLine(image, (50, 50), (200, 50), colors['red'], 3, 8, 0, 0.1)</a:t>
            </a:r>
          </a:p>
          <a:p>
            <a:r>
              <a:rPr lang="en-US" dirty="0"/>
              <a:t>cv2.arrowedLine(image, (50, 120), (200, 120), colors['green'], 3, cv2.LINE_AA, 0, 0.3)</a:t>
            </a:r>
          </a:p>
          <a:p>
            <a:r>
              <a:rPr lang="en-US" dirty="0"/>
              <a:t>cv2.arrowedLine(image, (50, 200), (200, 200), colors['blue'], 3, 8, 0, 0.3)</a:t>
            </a:r>
          </a:p>
          <a:p>
            <a:r>
              <a:rPr lang="en-US" dirty="0"/>
              <a:t>As you can see, three arrows are defined. See the next screenshot, where these arrows are plotted. Additionally, see the difference between cv2.LINE_AA (you can also write 16) and 8 (you can also write cv2.LINE_8):</a:t>
            </a:r>
          </a:p>
        </p:txBody>
      </p:sp>
      <p:pic>
        <p:nvPicPr>
          <p:cNvPr id="6" name="Content Placeholder 5"/>
          <p:cNvPicPr>
            <a:picLocks noGrp="1" noChangeAspect="1"/>
          </p:cNvPicPr>
          <p:nvPr>
            <p:ph sz="half" idx="2"/>
          </p:nvPr>
        </p:nvPicPr>
        <p:blipFill>
          <a:blip r:embed="rId2"/>
          <a:stretch>
            <a:fillRect/>
          </a:stretch>
        </p:blipFill>
        <p:spPr>
          <a:xfrm>
            <a:off x="6100280" y="1293066"/>
            <a:ext cx="5181600" cy="4347943"/>
          </a:xfrm>
          <a:prstGeom prst="rect">
            <a:avLst/>
          </a:prstGeom>
        </p:spPr>
      </p:pic>
      <p:sp>
        <p:nvSpPr>
          <p:cNvPr id="8" name="Rectangle 7"/>
          <p:cNvSpPr/>
          <p:nvPr/>
        </p:nvSpPr>
        <p:spPr>
          <a:xfrm>
            <a:off x="76200" y="5908137"/>
            <a:ext cx="12115800" cy="738664"/>
          </a:xfrm>
          <a:prstGeom prst="rect">
            <a:avLst/>
          </a:prstGeom>
        </p:spPr>
        <p:txBody>
          <a:bodyPr wrap="square">
            <a:spAutoFit/>
          </a:bodyPr>
          <a:lstStyle/>
          <a:p>
            <a:r>
              <a:rPr lang="en-US" sz="1400" dirty="0"/>
              <a:t>In this example, we have combined (on purpose to call your attention) both </a:t>
            </a:r>
            <a:r>
              <a:rPr lang="en-US" sz="1400" dirty="0" err="1"/>
              <a:t>enums</a:t>
            </a:r>
            <a:r>
              <a:rPr lang="en-US" sz="1400" dirty="0"/>
              <a:t> (for example, cv2.LINE_AA) or writing the value directly (for example, 8) in connection with the </a:t>
            </a:r>
            <a:r>
              <a:rPr lang="en-US" sz="1400" dirty="0" err="1"/>
              <a:t>lineType</a:t>
            </a:r>
            <a:r>
              <a:rPr lang="en-US" sz="1400" dirty="0"/>
              <a:t> parameter. This is definitely not a good idea, because it could confuse you. One criterion should be established and maintained throughout all your code.</a:t>
            </a:r>
          </a:p>
        </p:txBody>
      </p:sp>
    </p:spTree>
    <p:extLst>
      <p:ext uri="{BB962C8B-B14F-4D97-AF65-F5344CB8AC3E}">
        <p14:creationId xmlns:p14="http://schemas.microsoft.com/office/powerpoint/2010/main" val="3190238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a:t>
            </a:r>
            <a:r>
              <a:rPr lang="en-US" b="1" dirty="0" smtClean="0"/>
              <a:t>ellipses</a:t>
            </a:r>
            <a:endParaRPr lang="en-US" dirty="0"/>
          </a:p>
        </p:txBody>
      </p:sp>
      <p:sp>
        <p:nvSpPr>
          <p:cNvPr id="3" name="Content Placeholder 2"/>
          <p:cNvSpPr>
            <a:spLocks noGrp="1"/>
          </p:cNvSpPr>
          <p:nvPr>
            <p:ph sz="half" idx="1"/>
          </p:nvPr>
        </p:nvSpPr>
        <p:spPr/>
        <p:txBody>
          <a:bodyPr>
            <a:normAutofit fontScale="40000" lnSpcReduction="20000"/>
          </a:bodyPr>
          <a:lstStyle/>
          <a:p>
            <a:r>
              <a:rPr lang="en-US" dirty="0"/>
              <a:t>The signature for this function is as follows:</a:t>
            </a:r>
          </a:p>
          <a:p>
            <a:endParaRPr lang="en-US" dirty="0"/>
          </a:p>
          <a:p>
            <a:r>
              <a:rPr lang="en-US" dirty="0"/>
              <a:t>cv2.ellipse(</a:t>
            </a:r>
            <a:r>
              <a:rPr lang="en-US" dirty="0" err="1"/>
              <a:t>img</a:t>
            </a:r>
            <a:r>
              <a:rPr lang="en-US" dirty="0"/>
              <a:t>, center, axes, angle, </a:t>
            </a:r>
            <a:r>
              <a:rPr lang="en-US" dirty="0" err="1"/>
              <a:t>startAngle</a:t>
            </a:r>
            <a:r>
              <a:rPr lang="en-US" dirty="0"/>
              <a:t>, </a:t>
            </a:r>
            <a:r>
              <a:rPr lang="en-US" dirty="0" err="1"/>
              <a:t>endAngle</a:t>
            </a:r>
            <a:r>
              <a:rPr lang="en-US" dirty="0"/>
              <a:t>, color, thickness=1, </a:t>
            </a:r>
            <a:r>
              <a:rPr lang="en-US" dirty="0" err="1"/>
              <a:t>lineType</a:t>
            </a:r>
            <a:r>
              <a:rPr lang="en-US" dirty="0"/>
              <a:t>=8, shift=0)</a:t>
            </a:r>
          </a:p>
          <a:p>
            <a:r>
              <a:rPr lang="en-US" dirty="0"/>
              <a:t>This function allows you to create different types of ellipses. The angle parameter (in degrees) allows you to rotate the ellipse. The axes parameter controls the size of the ellipse corresponding to half the size of the axes. If a full ellipse is required, </a:t>
            </a:r>
            <a:r>
              <a:rPr lang="en-US" dirty="0" err="1"/>
              <a:t>startAngle</a:t>
            </a:r>
            <a:r>
              <a:rPr lang="en-US" dirty="0"/>
              <a:t> = 0 and </a:t>
            </a:r>
            <a:r>
              <a:rPr lang="en-US" dirty="0" err="1"/>
              <a:t>endAngle</a:t>
            </a:r>
            <a:r>
              <a:rPr lang="en-US" dirty="0"/>
              <a:t> = 360. Otherwise, you should adjust these parameters to the required elliptic arc (in degrees). You can also see that, by passing the same value for the axes, you can draw a circle: </a:t>
            </a:r>
          </a:p>
          <a:p>
            <a:endParaRPr lang="en-US" dirty="0"/>
          </a:p>
          <a:p>
            <a:r>
              <a:rPr lang="en-US" dirty="0"/>
              <a:t>cv2.ellipse(image, (80, 80), (60, 40), 0, 0, 360, colors['red'], -1)</a:t>
            </a:r>
          </a:p>
          <a:p>
            <a:r>
              <a:rPr lang="en-US" dirty="0"/>
              <a:t>cv2.ellipse(image, (80, 200), (80, 40), 0, 0, 360, colors['green'], 3)</a:t>
            </a:r>
          </a:p>
          <a:p>
            <a:r>
              <a:rPr lang="en-US" dirty="0"/>
              <a:t>cv2.ellipse(image, (80, 200), (10, 40), 0, 0, 360, colors['blue'], 3)</a:t>
            </a:r>
          </a:p>
          <a:p>
            <a:r>
              <a:rPr lang="en-US" dirty="0"/>
              <a:t>cv2.ellipse(image, (200, 200), (10, 40), 0, 0, 180, colors['yellow'], 3)</a:t>
            </a:r>
          </a:p>
          <a:p>
            <a:r>
              <a:rPr lang="en-US" dirty="0"/>
              <a:t>cv2.ellipse(image, (200, 100), (10, 40), 0, 0, 270, colors['cyan'], 3)</a:t>
            </a:r>
          </a:p>
          <a:p>
            <a:r>
              <a:rPr lang="en-US" dirty="0"/>
              <a:t>cv2.ellipse(image, (250, 250), (30, 30), 0, 0, 360, colors['magenta'], 3)</a:t>
            </a:r>
          </a:p>
          <a:p>
            <a:r>
              <a:rPr lang="en-US" dirty="0"/>
              <a:t>cv2.ellipse(image, (250, 100), (20, 40), 45, 0, 360, colors['gray'], 3)</a:t>
            </a:r>
          </a:p>
          <a:p>
            <a:r>
              <a:rPr lang="en-US" dirty="0"/>
              <a:t>These ellipses can be seen in the next screenshot:</a:t>
            </a:r>
          </a:p>
        </p:txBody>
      </p:sp>
      <p:pic>
        <p:nvPicPr>
          <p:cNvPr id="5" name="Content Placeholder 4"/>
          <p:cNvPicPr>
            <a:picLocks noGrp="1" noChangeAspect="1"/>
          </p:cNvPicPr>
          <p:nvPr>
            <p:ph sz="half" idx="2"/>
          </p:nvPr>
        </p:nvPicPr>
        <p:blipFill>
          <a:blip r:embed="rId2"/>
          <a:stretch>
            <a:fillRect/>
          </a:stretch>
        </p:blipFill>
        <p:spPr>
          <a:xfrm>
            <a:off x="6204613" y="1825625"/>
            <a:ext cx="5116774" cy="4351338"/>
          </a:xfrm>
          <a:prstGeom prst="rect">
            <a:avLst/>
          </a:prstGeom>
        </p:spPr>
      </p:pic>
    </p:spTree>
    <p:extLst>
      <p:ext uri="{BB962C8B-B14F-4D97-AF65-F5344CB8AC3E}">
        <p14:creationId xmlns:p14="http://schemas.microsoft.com/office/powerpoint/2010/main" val="773672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a:t>
            </a:r>
            <a:r>
              <a:rPr lang="en-US" b="1" dirty="0" smtClean="0"/>
              <a:t>polygons</a:t>
            </a:r>
            <a:endParaRPr lang="en-US" dirty="0"/>
          </a:p>
        </p:txBody>
      </p:sp>
      <p:sp>
        <p:nvSpPr>
          <p:cNvPr id="3" name="Content Placeholder 2"/>
          <p:cNvSpPr>
            <a:spLocks noGrp="1"/>
          </p:cNvSpPr>
          <p:nvPr>
            <p:ph idx="1"/>
          </p:nvPr>
        </p:nvSpPr>
        <p:spPr/>
        <p:txBody>
          <a:bodyPr>
            <a:normAutofit fontScale="55000" lnSpcReduction="20000"/>
          </a:bodyPr>
          <a:lstStyle/>
          <a:p>
            <a:r>
              <a:rPr lang="en-US" dirty="0"/>
              <a:t>The signature for this function is as follows:</a:t>
            </a:r>
          </a:p>
          <a:p>
            <a:endParaRPr lang="en-US" dirty="0"/>
          </a:p>
          <a:p>
            <a:r>
              <a:rPr lang="en-US" dirty="0"/>
              <a:t>cv2.polylines(</a:t>
            </a:r>
            <a:r>
              <a:rPr lang="en-US" dirty="0" err="1"/>
              <a:t>img</a:t>
            </a:r>
            <a:r>
              <a:rPr lang="en-US" dirty="0"/>
              <a:t>, </a:t>
            </a:r>
            <a:r>
              <a:rPr lang="en-US" dirty="0" err="1"/>
              <a:t>pts</a:t>
            </a:r>
            <a:r>
              <a:rPr lang="en-US" dirty="0"/>
              <a:t>, </a:t>
            </a:r>
            <a:r>
              <a:rPr lang="en-US" dirty="0" err="1"/>
              <a:t>isClosed</a:t>
            </a:r>
            <a:r>
              <a:rPr lang="en-US" dirty="0"/>
              <a:t>, color, thickness=1, </a:t>
            </a:r>
            <a:r>
              <a:rPr lang="en-US" dirty="0" err="1"/>
              <a:t>lineType</a:t>
            </a:r>
            <a:r>
              <a:rPr lang="en-US" dirty="0"/>
              <a:t>=8, shift=0)</a:t>
            </a:r>
          </a:p>
          <a:p>
            <a:r>
              <a:rPr lang="en-US" dirty="0"/>
              <a:t>This function allows you to create polygonal curves. Here the key parameter is </a:t>
            </a:r>
            <a:r>
              <a:rPr lang="en-US" dirty="0" err="1"/>
              <a:t>pts</a:t>
            </a:r>
            <a:r>
              <a:rPr lang="en-US" dirty="0"/>
              <a:t>, where the array defining the polygonal curve should be provided. The shape of this parameter should be (</a:t>
            </a:r>
            <a:r>
              <a:rPr lang="en-US" dirty="0" err="1"/>
              <a:t>number_vertex</a:t>
            </a:r>
            <a:r>
              <a:rPr lang="en-US" dirty="0"/>
              <a:t>, 1, 2). So a common approach is to define it by using </a:t>
            </a:r>
            <a:r>
              <a:rPr lang="en-US" dirty="0" err="1"/>
              <a:t>np.array</a:t>
            </a:r>
            <a:r>
              <a:rPr lang="en-US" dirty="0"/>
              <a:t> to create the coordinates (of the np.int32 type) and, afterward, reshape it to match the aforementioned shape. For example, to create a triangle, the code will look like this:</a:t>
            </a:r>
          </a:p>
          <a:p>
            <a:endParaRPr lang="en-US" dirty="0"/>
          </a:p>
          <a:p>
            <a:r>
              <a:rPr lang="en-US" dirty="0"/>
              <a:t># These points define a triangle</a:t>
            </a:r>
          </a:p>
          <a:p>
            <a:r>
              <a:rPr lang="en-US" dirty="0" err="1"/>
              <a:t>pts</a:t>
            </a:r>
            <a:r>
              <a:rPr lang="en-US" dirty="0"/>
              <a:t> = </a:t>
            </a:r>
            <a:r>
              <a:rPr lang="en-US" dirty="0" err="1"/>
              <a:t>np.array</a:t>
            </a:r>
            <a:r>
              <a:rPr lang="en-US" dirty="0"/>
              <a:t>([[250, 5], [220, 80], [280, 80]], np.int32)</a:t>
            </a:r>
          </a:p>
          <a:p>
            <a:r>
              <a:rPr lang="en-US" dirty="0"/>
              <a:t># Reshape to shape (</a:t>
            </a:r>
            <a:r>
              <a:rPr lang="en-US" dirty="0" err="1"/>
              <a:t>number_vertex</a:t>
            </a:r>
            <a:r>
              <a:rPr lang="en-US" dirty="0"/>
              <a:t>, 1, 2)</a:t>
            </a:r>
          </a:p>
          <a:p>
            <a:r>
              <a:rPr lang="en-US" dirty="0" err="1"/>
              <a:t>pts</a:t>
            </a:r>
            <a:r>
              <a:rPr lang="en-US" dirty="0"/>
              <a:t> = </a:t>
            </a:r>
            <a:r>
              <a:rPr lang="en-US" dirty="0" err="1"/>
              <a:t>pts.reshape</a:t>
            </a:r>
            <a:r>
              <a:rPr lang="en-US" dirty="0"/>
              <a:t>((-1, 1, 2))</a:t>
            </a:r>
          </a:p>
          <a:p>
            <a:r>
              <a:rPr lang="en-US" dirty="0"/>
              <a:t># Print the shapes: this line is not necessary, only for visualization</a:t>
            </a:r>
          </a:p>
          <a:p>
            <a:r>
              <a:rPr lang="en-US" dirty="0"/>
              <a:t>print("shape of </a:t>
            </a:r>
            <a:r>
              <a:rPr lang="en-US" dirty="0" err="1"/>
              <a:t>pts</a:t>
            </a:r>
            <a:r>
              <a:rPr lang="en-US" dirty="0"/>
              <a:t> '{}'".format(</a:t>
            </a:r>
            <a:r>
              <a:rPr lang="en-US" dirty="0" err="1"/>
              <a:t>pts.shape</a:t>
            </a:r>
            <a:r>
              <a:rPr lang="en-US" dirty="0"/>
              <a:t>))</a:t>
            </a:r>
          </a:p>
          <a:p>
            <a:r>
              <a:rPr lang="en-US" dirty="0"/>
              <a:t># this gives: shape of </a:t>
            </a:r>
            <a:r>
              <a:rPr lang="en-US" dirty="0" err="1"/>
              <a:t>pts</a:t>
            </a:r>
            <a:r>
              <a:rPr lang="en-US" dirty="0"/>
              <a:t> '(3, 1, 2)'</a:t>
            </a:r>
          </a:p>
        </p:txBody>
      </p:sp>
    </p:spTree>
    <p:extLst>
      <p:ext uri="{BB962C8B-B14F-4D97-AF65-F5344CB8AC3E}">
        <p14:creationId xmlns:p14="http://schemas.microsoft.com/office/powerpoint/2010/main" val="2926844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polygons</a:t>
            </a:r>
            <a:endParaRPr lang="en-US" dirty="0"/>
          </a:p>
        </p:txBody>
      </p:sp>
      <p:sp>
        <p:nvSpPr>
          <p:cNvPr id="3" name="Content Placeholder 2"/>
          <p:cNvSpPr>
            <a:spLocks noGrp="1"/>
          </p:cNvSpPr>
          <p:nvPr>
            <p:ph idx="1"/>
          </p:nvPr>
        </p:nvSpPr>
        <p:spPr/>
        <p:txBody>
          <a:bodyPr>
            <a:normAutofit fontScale="62500" lnSpcReduction="20000"/>
          </a:bodyPr>
          <a:lstStyle/>
          <a:p>
            <a:r>
              <a:rPr lang="en-US" dirty="0"/>
              <a:t>Another important parameter is </a:t>
            </a:r>
            <a:r>
              <a:rPr lang="en-US" dirty="0" err="1"/>
              <a:t>isClosed</a:t>
            </a:r>
            <a:r>
              <a:rPr lang="en-US" dirty="0"/>
              <a:t>. If this parameter is True, the polygon will be drawn closed. Otherwise, a line segment between the first and last vertex will not be plotted, resulting in an open polygon. For a complete explanation, in order to draw a closed triangle, the code is given next:</a:t>
            </a:r>
          </a:p>
          <a:p>
            <a:endParaRPr lang="en-US" dirty="0"/>
          </a:p>
          <a:p>
            <a:r>
              <a:rPr lang="en-US" dirty="0"/>
              <a:t># These points define a triangle</a:t>
            </a:r>
          </a:p>
          <a:p>
            <a:r>
              <a:rPr lang="en-US" dirty="0" err="1"/>
              <a:t>pts</a:t>
            </a:r>
            <a:r>
              <a:rPr lang="en-US" dirty="0"/>
              <a:t> = </a:t>
            </a:r>
            <a:r>
              <a:rPr lang="en-US" dirty="0" err="1"/>
              <a:t>np.array</a:t>
            </a:r>
            <a:r>
              <a:rPr lang="en-US" dirty="0"/>
              <a:t>([[250, 5], [220, 80], [280, 80]], np.int32)</a:t>
            </a:r>
          </a:p>
          <a:p>
            <a:r>
              <a:rPr lang="en-US" dirty="0"/>
              <a:t># Reshape to shape (</a:t>
            </a:r>
            <a:r>
              <a:rPr lang="en-US" dirty="0" err="1"/>
              <a:t>number_vertex</a:t>
            </a:r>
            <a:r>
              <a:rPr lang="en-US" dirty="0"/>
              <a:t>, 1, 2)</a:t>
            </a:r>
          </a:p>
          <a:p>
            <a:r>
              <a:rPr lang="en-US" dirty="0" err="1"/>
              <a:t>pts</a:t>
            </a:r>
            <a:r>
              <a:rPr lang="en-US" dirty="0"/>
              <a:t> = </a:t>
            </a:r>
            <a:r>
              <a:rPr lang="en-US" dirty="0" err="1"/>
              <a:t>pts.reshape</a:t>
            </a:r>
            <a:r>
              <a:rPr lang="en-US" dirty="0"/>
              <a:t>((-1, 1, 2))</a:t>
            </a:r>
          </a:p>
          <a:p>
            <a:r>
              <a:rPr lang="en-US" dirty="0"/>
              <a:t># Print the shapes: this line is not necessary, only for visualization</a:t>
            </a:r>
          </a:p>
          <a:p>
            <a:r>
              <a:rPr lang="en-US" dirty="0"/>
              <a:t>print("shape of </a:t>
            </a:r>
            <a:r>
              <a:rPr lang="en-US" dirty="0" err="1"/>
              <a:t>pts</a:t>
            </a:r>
            <a:r>
              <a:rPr lang="en-US" dirty="0"/>
              <a:t> '{}'".format(</a:t>
            </a:r>
            <a:r>
              <a:rPr lang="en-US" dirty="0" err="1"/>
              <a:t>pts.shape</a:t>
            </a:r>
            <a:r>
              <a:rPr lang="en-US" dirty="0"/>
              <a:t>))</a:t>
            </a:r>
          </a:p>
          <a:p>
            <a:r>
              <a:rPr lang="en-US" dirty="0"/>
              <a:t># Draw this </a:t>
            </a:r>
            <a:r>
              <a:rPr lang="en-US" dirty="0" err="1"/>
              <a:t>poligon</a:t>
            </a:r>
            <a:r>
              <a:rPr lang="en-US" dirty="0"/>
              <a:t> with True option</a:t>
            </a:r>
          </a:p>
          <a:p>
            <a:r>
              <a:rPr lang="en-US" dirty="0"/>
              <a:t>cv2.polylines(image, [</a:t>
            </a:r>
            <a:r>
              <a:rPr lang="en-US" dirty="0" err="1"/>
              <a:t>pts</a:t>
            </a:r>
            <a:r>
              <a:rPr lang="en-US" dirty="0"/>
              <a:t>], True, colors['green'], 3)</a:t>
            </a:r>
          </a:p>
          <a:p>
            <a:r>
              <a:rPr lang="en-US" dirty="0"/>
              <a:t>In the same way, we have coded pentagons and rectangles, which can be seen in the next screenshot:</a:t>
            </a:r>
          </a:p>
        </p:txBody>
      </p:sp>
    </p:spTree>
    <p:extLst>
      <p:ext uri="{BB962C8B-B14F-4D97-AF65-F5344CB8AC3E}">
        <p14:creationId xmlns:p14="http://schemas.microsoft.com/office/powerpoint/2010/main" val="4246863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polygons</a:t>
            </a:r>
            <a:endParaRPr lang="en-US" dirty="0"/>
          </a:p>
        </p:txBody>
      </p:sp>
      <p:pic>
        <p:nvPicPr>
          <p:cNvPr id="4" name="Content Placeholder 3"/>
          <p:cNvPicPr>
            <a:picLocks noGrp="1" noChangeAspect="1"/>
          </p:cNvPicPr>
          <p:nvPr>
            <p:ph idx="1"/>
          </p:nvPr>
        </p:nvPicPr>
        <p:blipFill>
          <a:blip r:embed="rId2"/>
          <a:stretch>
            <a:fillRect/>
          </a:stretch>
        </p:blipFill>
        <p:spPr>
          <a:xfrm>
            <a:off x="3811547" y="1825625"/>
            <a:ext cx="4568905" cy="4351338"/>
          </a:xfrm>
          <a:prstGeom prst="rect">
            <a:avLst/>
          </a:prstGeom>
        </p:spPr>
      </p:pic>
    </p:spTree>
    <p:extLst>
      <p:ext uri="{BB962C8B-B14F-4D97-AF65-F5344CB8AC3E}">
        <p14:creationId xmlns:p14="http://schemas.microsoft.com/office/powerpoint/2010/main" val="2296603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Shift parameter in drawing </a:t>
            </a:r>
            <a:r>
              <a:rPr lang="en-US" b="1" dirty="0" smtClean="0"/>
              <a:t>functions</a:t>
            </a:r>
            <a:endParaRPr lang="en-US" dirty="0"/>
          </a:p>
        </p:txBody>
      </p:sp>
      <p:sp>
        <p:nvSpPr>
          <p:cNvPr id="5" name="Content Placeholder 4"/>
          <p:cNvSpPr>
            <a:spLocks noGrp="1"/>
          </p:cNvSpPr>
          <p:nvPr>
            <p:ph idx="1"/>
          </p:nvPr>
        </p:nvSpPr>
        <p:spPr>
          <a:xfrm>
            <a:off x="838200" y="1825625"/>
            <a:ext cx="10515600" cy="3352550"/>
          </a:xfrm>
        </p:spPr>
        <p:txBody>
          <a:bodyPr>
            <a:normAutofit fontScale="85000" lnSpcReduction="20000"/>
          </a:bodyPr>
          <a:lstStyle/>
          <a:p>
            <a:r>
              <a:rPr lang="en-US" dirty="0"/>
              <a:t>Some of the previous functions (the ones with the shift parameter) can work with sub-pixel accuracy in connection with the pixel coordinates. To cope with this, you should pass the coordinates as fixed-point numbers, which are encoded as integers. </a:t>
            </a:r>
          </a:p>
          <a:p>
            <a:endParaRPr lang="en-US" dirty="0"/>
          </a:p>
          <a:p>
            <a:r>
              <a:rPr lang="en-US" dirty="0"/>
              <a:t>A fixed-point number means that there is a specific (fixed) number of digits (bits) reserved for both the integer (on the left of the decimal point) and the fractional parts (on the right of the decimal point).</a:t>
            </a:r>
          </a:p>
          <a:p>
            <a:r>
              <a:rPr lang="en-US" dirty="0"/>
              <a:t>Therefore, the shift parameter allows you to specify the number of the fractional bits (on the right of the decimal point). In the end, the real point coordinates are calculated as follows:</a:t>
            </a:r>
          </a:p>
        </p:txBody>
      </p:sp>
      <p:pic>
        <p:nvPicPr>
          <p:cNvPr id="6" name="Picture 5"/>
          <p:cNvPicPr>
            <a:picLocks noChangeAspect="1"/>
          </p:cNvPicPr>
          <p:nvPr/>
        </p:nvPicPr>
        <p:blipFill>
          <a:blip r:embed="rId2"/>
          <a:stretch>
            <a:fillRect/>
          </a:stretch>
        </p:blipFill>
        <p:spPr>
          <a:xfrm>
            <a:off x="3186144" y="5313112"/>
            <a:ext cx="4915586" cy="809738"/>
          </a:xfrm>
          <a:prstGeom prst="rect">
            <a:avLst/>
          </a:prstGeom>
        </p:spPr>
      </p:pic>
    </p:spTree>
    <p:extLst>
      <p:ext uri="{BB962C8B-B14F-4D97-AF65-F5344CB8AC3E}">
        <p14:creationId xmlns:p14="http://schemas.microsoft.com/office/powerpoint/2010/main" val="24247813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Shift parameter in drawing functions</a:t>
            </a:r>
            <a:endParaRPr lang="en-US" dirty="0"/>
          </a:p>
        </p:txBody>
      </p:sp>
      <p:sp>
        <p:nvSpPr>
          <p:cNvPr id="3" name="Content Placeholder 2"/>
          <p:cNvSpPr>
            <a:spLocks noGrp="1"/>
          </p:cNvSpPr>
          <p:nvPr>
            <p:ph idx="1"/>
          </p:nvPr>
        </p:nvSpPr>
        <p:spPr>
          <a:xfrm>
            <a:off x="838200" y="1825625"/>
            <a:ext cx="10515600" cy="2345683"/>
          </a:xfrm>
        </p:spPr>
        <p:txBody>
          <a:bodyPr/>
          <a:lstStyle/>
          <a:p>
            <a:endParaRPr lang="en-US" dirty="0"/>
          </a:p>
          <a:p>
            <a:r>
              <a:rPr lang="en-US" dirty="0"/>
              <a:t>For example, this piece of code draws two circles with a radius of 300. One of them uses a value of shift = 2 to provide sub-pixel accuracy. In this case, you should multiply both the origin and the radius by a factor </a:t>
            </a:r>
            <a:r>
              <a:rPr lang="en-US" dirty="0" smtClean="0"/>
              <a:t>of</a:t>
            </a:r>
            <a:endParaRPr lang="en-US" dirty="0"/>
          </a:p>
        </p:txBody>
      </p:sp>
      <p:pic>
        <p:nvPicPr>
          <p:cNvPr id="5" name="Picture 4"/>
          <p:cNvPicPr>
            <a:picLocks noChangeAspect="1"/>
          </p:cNvPicPr>
          <p:nvPr/>
        </p:nvPicPr>
        <p:blipFill>
          <a:blip r:embed="rId2"/>
          <a:stretch>
            <a:fillRect/>
          </a:stretch>
        </p:blipFill>
        <p:spPr>
          <a:xfrm>
            <a:off x="2461225" y="3427349"/>
            <a:ext cx="1591375" cy="548750"/>
          </a:xfrm>
          <a:prstGeom prst="rect">
            <a:avLst/>
          </a:prstGeom>
        </p:spPr>
      </p:pic>
      <p:sp>
        <p:nvSpPr>
          <p:cNvPr id="7" name="Rectangle 6"/>
          <p:cNvSpPr/>
          <p:nvPr/>
        </p:nvSpPr>
        <p:spPr>
          <a:xfrm>
            <a:off x="4260350" y="4193229"/>
            <a:ext cx="6096000" cy="1754326"/>
          </a:xfrm>
          <a:prstGeom prst="rect">
            <a:avLst/>
          </a:prstGeom>
        </p:spPr>
        <p:txBody>
          <a:bodyPr>
            <a:spAutoFit/>
          </a:bodyPr>
          <a:lstStyle/>
          <a:p>
            <a:r>
              <a:rPr lang="en-US" dirty="0"/>
              <a:t>shift = 2</a:t>
            </a:r>
          </a:p>
          <a:p>
            <a:r>
              <a:rPr lang="en-US" dirty="0"/>
              <a:t>factor = 2 ** shift</a:t>
            </a:r>
          </a:p>
          <a:p>
            <a:r>
              <a:rPr lang="en-US" dirty="0"/>
              <a:t>print("factor: '{}'".format(factor))</a:t>
            </a:r>
          </a:p>
          <a:p>
            <a:r>
              <a:rPr lang="en-US" dirty="0"/>
              <a:t>cv2.circle(image, (</a:t>
            </a:r>
            <a:r>
              <a:rPr lang="en-US" dirty="0" err="1"/>
              <a:t>int</a:t>
            </a:r>
            <a:r>
              <a:rPr lang="en-US" dirty="0"/>
              <a:t>(round(299.99 * factor)), </a:t>
            </a:r>
            <a:r>
              <a:rPr lang="en-US" dirty="0" err="1"/>
              <a:t>int</a:t>
            </a:r>
            <a:r>
              <a:rPr lang="en-US" dirty="0"/>
              <a:t>(round(299.99 * factor))), 300 * factor, colors['red'], 1, shift=shift)</a:t>
            </a:r>
          </a:p>
          <a:p>
            <a:r>
              <a:rPr lang="en-US" dirty="0"/>
              <a:t>cv2.circle(image, (299, 299), 300, colors['green'], 1)</a:t>
            </a:r>
          </a:p>
        </p:txBody>
      </p:sp>
    </p:spTree>
    <p:extLst>
      <p:ext uri="{BB962C8B-B14F-4D97-AF65-F5344CB8AC3E}">
        <p14:creationId xmlns:p14="http://schemas.microsoft.com/office/powerpoint/2010/main" val="14959175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Shift parameter in drawing functions</a:t>
            </a:r>
            <a:endParaRPr lang="en-US" dirty="0"/>
          </a:p>
        </p:txBody>
      </p:sp>
      <p:sp>
        <p:nvSpPr>
          <p:cNvPr id="3" name="Content Placeholder 2"/>
          <p:cNvSpPr>
            <a:spLocks noGrp="1"/>
          </p:cNvSpPr>
          <p:nvPr>
            <p:ph idx="1"/>
          </p:nvPr>
        </p:nvSpPr>
        <p:spPr/>
        <p:txBody>
          <a:bodyPr/>
          <a:lstStyle/>
          <a:p>
            <a:r>
              <a:rPr lang="en-US" dirty="0"/>
              <a:t>If shift = 3, the value for the factor will be 8 (2shift = 3), and so on. Multiplying by powers of 2 is the same as shifting the bits corresponding to the integer binary representations to the left by one. This way you can draw float coordinates. To summarize this point, we can also create a wrapper function for cv2.circle(), which can cope with float coordinates—</a:t>
            </a:r>
            <a:r>
              <a:rPr lang="en-US" dirty="0" err="1"/>
              <a:t>draw_float_circle</a:t>
            </a:r>
            <a:r>
              <a:rPr lang="en-US" dirty="0"/>
              <a:t>()—using the shift argument property. The key code for this example is shown next. The full code is defined in the shift_parameter.py script:</a:t>
            </a:r>
          </a:p>
        </p:txBody>
      </p:sp>
      <p:pic>
        <p:nvPicPr>
          <p:cNvPr id="4" name="Picture 3"/>
          <p:cNvPicPr>
            <a:picLocks noChangeAspect="1"/>
          </p:cNvPicPr>
          <p:nvPr/>
        </p:nvPicPr>
        <p:blipFill>
          <a:blip r:embed="rId2"/>
          <a:stretch>
            <a:fillRect/>
          </a:stretch>
        </p:blipFill>
        <p:spPr>
          <a:xfrm>
            <a:off x="7602596" y="1130157"/>
            <a:ext cx="1648622" cy="560531"/>
          </a:xfrm>
          <a:prstGeom prst="rect">
            <a:avLst/>
          </a:prstGeom>
        </p:spPr>
      </p:pic>
    </p:spTree>
    <p:extLst>
      <p:ext uri="{BB962C8B-B14F-4D97-AF65-F5344CB8AC3E}">
        <p14:creationId xmlns:p14="http://schemas.microsoft.com/office/powerpoint/2010/main" val="782891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Shift parameter in drawing functions</a:t>
            </a:r>
            <a:endParaRPr lang="en-US" dirty="0"/>
          </a:p>
        </p:txBody>
      </p:sp>
      <p:sp>
        <p:nvSpPr>
          <p:cNvPr id="3" name="Content Placeholder 2"/>
          <p:cNvSpPr>
            <a:spLocks noGrp="1"/>
          </p:cNvSpPr>
          <p:nvPr>
            <p:ph idx="1"/>
          </p:nvPr>
        </p:nvSpPr>
        <p:spPr/>
        <p:txBody>
          <a:bodyPr>
            <a:normAutofit fontScale="62500" lnSpcReduction="20000"/>
          </a:bodyPr>
          <a:lstStyle/>
          <a:p>
            <a:r>
              <a:rPr lang="en-US" dirty="0" err="1"/>
              <a:t>def</a:t>
            </a:r>
            <a:r>
              <a:rPr lang="en-US" dirty="0"/>
              <a:t> </a:t>
            </a:r>
            <a:r>
              <a:rPr lang="en-US" dirty="0" err="1"/>
              <a:t>draw_float_circle</a:t>
            </a:r>
            <a:r>
              <a:rPr lang="en-US" dirty="0"/>
              <a:t>(</a:t>
            </a:r>
            <a:r>
              <a:rPr lang="en-US" dirty="0" err="1"/>
              <a:t>img</a:t>
            </a:r>
            <a:r>
              <a:rPr lang="en-US" dirty="0"/>
              <a:t>, center, radius, color, thickness=1, </a:t>
            </a:r>
            <a:r>
              <a:rPr lang="en-US" dirty="0" err="1"/>
              <a:t>lineType</a:t>
            </a:r>
            <a:r>
              <a:rPr lang="en-US" dirty="0"/>
              <a:t>=8, shift=4):</a:t>
            </a:r>
          </a:p>
          <a:p>
            <a:r>
              <a:rPr lang="en-US" dirty="0"/>
              <a:t>    """Wrapper function to draw float-coordinate circles</a:t>
            </a:r>
          </a:p>
          <a:p>
            <a:endParaRPr lang="en-US" dirty="0"/>
          </a:p>
          <a:p>
            <a:r>
              <a:rPr lang="en-US" dirty="0"/>
              <a:t>    """</a:t>
            </a:r>
          </a:p>
          <a:p>
            <a:r>
              <a:rPr lang="en-US" dirty="0"/>
              <a:t>    factor = 2 ** shift</a:t>
            </a:r>
          </a:p>
          <a:p>
            <a:r>
              <a:rPr lang="en-US" dirty="0"/>
              <a:t>    center = (</a:t>
            </a:r>
            <a:r>
              <a:rPr lang="en-US" dirty="0" err="1"/>
              <a:t>int</a:t>
            </a:r>
            <a:r>
              <a:rPr lang="en-US" dirty="0"/>
              <a:t>(round(center[0] * factor)), </a:t>
            </a:r>
            <a:r>
              <a:rPr lang="en-US" dirty="0" err="1"/>
              <a:t>int</a:t>
            </a:r>
            <a:r>
              <a:rPr lang="en-US" dirty="0"/>
              <a:t>(round(center[1] * factor)))</a:t>
            </a:r>
          </a:p>
          <a:p>
            <a:r>
              <a:rPr lang="en-US" dirty="0"/>
              <a:t>    radius = </a:t>
            </a:r>
            <a:r>
              <a:rPr lang="en-US" dirty="0" err="1"/>
              <a:t>int</a:t>
            </a:r>
            <a:r>
              <a:rPr lang="en-US" dirty="0"/>
              <a:t>(round(radius * factor))</a:t>
            </a:r>
          </a:p>
          <a:p>
            <a:r>
              <a:rPr lang="en-US" dirty="0"/>
              <a:t>    cv2.circle(</a:t>
            </a:r>
            <a:r>
              <a:rPr lang="en-US" dirty="0" err="1"/>
              <a:t>img</a:t>
            </a:r>
            <a:r>
              <a:rPr lang="en-US" dirty="0"/>
              <a:t>, center, radius, color, thickness, </a:t>
            </a:r>
            <a:r>
              <a:rPr lang="en-US" dirty="0" err="1"/>
              <a:t>lineType</a:t>
            </a:r>
            <a:r>
              <a:rPr lang="en-US" dirty="0"/>
              <a:t>, shift)</a:t>
            </a:r>
          </a:p>
          <a:p>
            <a:endParaRPr lang="en-US" dirty="0"/>
          </a:p>
          <a:p>
            <a:r>
              <a:rPr lang="en-US" dirty="0" err="1"/>
              <a:t>draw_float_circle</a:t>
            </a:r>
            <a:r>
              <a:rPr lang="en-US" dirty="0"/>
              <a:t>(image, (299, 299), 300, colors['red'], 1, 8, 0)</a:t>
            </a:r>
          </a:p>
          <a:p>
            <a:r>
              <a:rPr lang="en-US" dirty="0" err="1"/>
              <a:t>draw_float_circle</a:t>
            </a:r>
            <a:r>
              <a:rPr lang="en-US" dirty="0"/>
              <a:t>(image, (299.9, 299.9), 300, colors['green'], 1, 8, 1)</a:t>
            </a:r>
          </a:p>
          <a:p>
            <a:r>
              <a:rPr lang="en-US" dirty="0" err="1"/>
              <a:t>draw_float_circle</a:t>
            </a:r>
            <a:r>
              <a:rPr lang="en-US" dirty="0"/>
              <a:t>(image, (299.99, 299.99), 300, colors['blue'], 1, 8, 2)</a:t>
            </a:r>
          </a:p>
          <a:p>
            <a:r>
              <a:rPr lang="en-US" dirty="0" err="1"/>
              <a:t>draw_float_circle</a:t>
            </a:r>
            <a:r>
              <a:rPr lang="en-US" dirty="0"/>
              <a:t>(image, (299.999, 299.999), 300, colors['yellow'], 1, 8, 3)</a:t>
            </a:r>
          </a:p>
        </p:txBody>
      </p:sp>
    </p:spTree>
    <p:extLst>
      <p:ext uri="{BB962C8B-B14F-4D97-AF65-F5344CB8AC3E}">
        <p14:creationId xmlns:p14="http://schemas.microsoft.com/office/powerpoint/2010/main" val="8871304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lineType</a:t>
            </a:r>
            <a:r>
              <a:rPr lang="en-US" b="1" dirty="0"/>
              <a:t> parameter in drawing functions</a:t>
            </a:r>
          </a:p>
        </p:txBody>
      </p:sp>
      <p:sp>
        <p:nvSpPr>
          <p:cNvPr id="3" name="Content Placeholder 2"/>
          <p:cNvSpPr>
            <a:spLocks noGrp="1"/>
          </p:cNvSpPr>
          <p:nvPr>
            <p:ph sz="half" idx="1"/>
          </p:nvPr>
        </p:nvSpPr>
        <p:spPr/>
        <p:txBody>
          <a:bodyPr>
            <a:normAutofit fontScale="92500" lnSpcReduction="20000"/>
          </a:bodyPr>
          <a:lstStyle/>
          <a:p>
            <a:r>
              <a:rPr lang="en-US" dirty="0" smtClean="0"/>
              <a:t>Another </a:t>
            </a:r>
            <a:r>
              <a:rPr lang="en-US" dirty="0"/>
              <a:t>common parameter is </a:t>
            </a:r>
            <a:r>
              <a:rPr lang="en-US" dirty="0" err="1"/>
              <a:t>lineType</a:t>
            </a:r>
            <a:r>
              <a:rPr lang="en-US" dirty="0"/>
              <a:t>, which can take three different values. We have previously commented on the differences between these three types. In order to see it more clearly, you can see the next screenshot, where we have plotted three lines with the same thickness and inclination: yellow = cv2.LINE_4, red = cv2.LINE_AA, and green = cv2.LINE_8. To see the full code of this example, you can check the basic_line_types.py script:</a:t>
            </a:r>
          </a:p>
        </p:txBody>
      </p:sp>
      <p:pic>
        <p:nvPicPr>
          <p:cNvPr id="6" name="Content Placeholder 5"/>
          <p:cNvPicPr>
            <a:picLocks noGrp="1" noChangeAspect="1"/>
          </p:cNvPicPr>
          <p:nvPr>
            <p:ph sz="half" idx="2"/>
          </p:nvPr>
        </p:nvPicPr>
        <p:blipFill>
          <a:blip r:embed="rId2"/>
          <a:stretch>
            <a:fillRect/>
          </a:stretch>
        </p:blipFill>
        <p:spPr>
          <a:xfrm>
            <a:off x="6172200" y="1835796"/>
            <a:ext cx="5181600" cy="4330995"/>
          </a:xfrm>
          <a:prstGeom prst="rect">
            <a:avLst/>
          </a:prstGeom>
        </p:spPr>
      </p:pic>
    </p:spTree>
    <p:extLst>
      <p:ext uri="{BB962C8B-B14F-4D97-AF65-F5344CB8AC3E}">
        <p14:creationId xmlns:p14="http://schemas.microsoft.com/office/powerpoint/2010/main" val="3689337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Writing </a:t>
            </a:r>
            <a:r>
              <a:rPr lang="en-US" b="1" dirty="0" smtClean="0"/>
              <a:t>text</a:t>
            </a:r>
            <a:endParaRPr lang="en-US" dirty="0"/>
          </a:p>
        </p:txBody>
      </p:sp>
      <p:sp>
        <p:nvSpPr>
          <p:cNvPr id="3" name="Content Placeholder 2"/>
          <p:cNvSpPr>
            <a:spLocks noGrp="1"/>
          </p:cNvSpPr>
          <p:nvPr>
            <p:ph idx="1"/>
          </p:nvPr>
        </p:nvSpPr>
        <p:spPr/>
        <p:txBody>
          <a:bodyPr/>
          <a:lstStyle/>
          <a:p>
            <a:endParaRPr lang="en-US" dirty="0"/>
          </a:p>
          <a:p>
            <a:r>
              <a:rPr lang="en-US" dirty="0" err="1"/>
              <a:t>OpenCV</a:t>
            </a:r>
            <a:r>
              <a:rPr lang="en-US" dirty="0"/>
              <a:t> can also be used to render text in images. In this section, we will see how to draw text by using the cv2.putText() function. Additionally, we will see all the available fonts you can use. Lastly, we will see some </a:t>
            </a:r>
            <a:r>
              <a:rPr lang="en-US" dirty="0" err="1"/>
              <a:t>OpenCV</a:t>
            </a:r>
            <a:r>
              <a:rPr lang="en-US" dirty="0"/>
              <a:t> functions in connection with text drawing.</a:t>
            </a:r>
          </a:p>
        </p:txBody>
      </p:sp>
    </p:spTree>
    <p:extLst>
      <p:ext uri="{BB962C8B-B14F-4D97-AF65-F5344CB8AC3E}">
        <p14:creationId xmlns:p14="http://schemas.microsoft.com/office/powerpoint/2010/main" val="1098532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a:t>
            </a:r>
            <a:r>
              <a:rPr lang="en-US" b="1" dirty="0" smtClean="0"/>
              <a:t>text</a:t>
            </a:r>
            <a:endParaRPr lang="en-US" dirty="0"/>
          </a:p>
        </p:txBody>
      </p:sp>
      <p:sp>
        <p:nvSpPr>
          <p:cNvPr id="3" name="Content Placeholder 2"/>
          <p:cNvSpPr>
            <a:spLocks noGrp="1"/>
          </p:cNvSpPr>
          <p:nvPr>
            <p:ph idx="1"/>
          </p:nvPr>
        </p:nvSpPr>
        <p:spPr/>
        <p:txBody>
          <a:bodyPr>
            <a:normAutofit fontScale="47500" lnSpcReduction="20000"/>
          </a:bodyPr>
          <a:lstStyle/>
          <a:p>
            <a:r>
              <a:rPr lang="en-US" dirty="0"/>
              <a:t>The cv2.putText() function has the following signature:</a:t>
            </a:r>
          </a:p>
          <a:p>
            <a:endParaRPr lang="en-US" dirty="0"/>
          </a:p>
          <a:p>
            <a:pPr marL="0" indent="0">
              <a:buNone/>
            </a:pPr>
            <a:r>
              <a:rPr lang="en-US" dirty="0" err="1"/>
              <a:t>img</a:t>
            </a:r>
            <a:r>
              <a:rPr lang="en-US" dirty="0"/>
              <a:t> = </a:t>
            </a:r>
            <a:r>
              <a:rPr lang="en-US" dirty="0" err="1"/>
              <a:t>cv.putText</a:t>
            </a:r>
            <a:r>
              <a:rPr lang="en-US" dirty="0"/>
              <a:t>( </a:t>
            </a:r>
            <a:r>
              <a:rPr lang="en-US" dirty="0" err="1"/>
              <a:t>img</a:t>
            </a:r>
            <a:r>
              <a:rPr lang="en-US" dirty="0"/>
              <a:t>, text, org, </a:t>
            </a:r>
            <a:r>
              <a:rPr lang="en-US" dirty="0" err="1"/>
              <a:t>fontFace</a:t>
            </a:r>
            <a:r>
              <a:rPr lang="en-US" dirty="0"/>
              <a:t>, </a:t>
            </a:r>
            <a:r>
              <a:rPr lang="en-US" dirty="0" err="1"/>
              <a:t>fontScale</a:t>
            </a:r>
            <a:r>
              <a:rPr lang="en-US" dirty="0"/>
              <a:t>, color, thickness=1, </a:t>
            </a:r>
            <a:r>
              <a:rPr lang="en-US" dirty="0" err="1"/>
              <a:t>lineType</a:t>
            </a:r>
            <a:r>
              <a:rPr lang="en-US" dirty="0"/>
              <a:t>= 8, </a:t>
            </a:r>
            <a:r>
              <a:rPr lang="en-US" dirty="0" err="1"/>
              <a:t>bottomLeftOrigin</a:t>
            </a:r>
            <a:r>
              <a:rPr lang="en-US" dirty="0"/>
              <a:t>=False)</a:t>
            </a:r>
          </a:p>
          <a:p>
            <a:r>
              <a:rPr lang="en-US" dirty="0"/>
              <a:t>This function draws the provided text string starting at the org coordinate (upper-left corner if </a:t>
            </a:r>
            <a:r>
              <a:rPr lang="en-US" dirty="0" err="1"/>
              <a:t>bottomLeftOrigin</a:t>
            </a:r>
            <a:r>
              <a:rPr lang="en-US" dirty="0"/>
              <a:t> = False and lower-left corner otherwise) using the font type provided by </a:t>
            </a:r>
            <a:r>
              <a:rPr lang="en-US" dirty="0" err="1"/>
              <a:t>fontFace</a:t>
            </a:r>
            <a:r>
              <a:rPr lang="en-US" dirty="0"/>
              <a:t> and the </a:t>
            </a:r>
            <a:r>
              <a:rPr lang="en-US" dirty="0" err="1"/>
              <a:t>fontScale</a:t>
            </a:r>
            <a:r>
              <a:rPr lang="en-US" dirty="0"/>
              <a:t> factor. In connection with this example, you can see that the last provided parameter, which is </a:t>
            </a:r>
            <a:r>
              <a:rPr lang="en-US" dirty="0" err="1"/>
              <a:t>lineType</a:t>
            </a:r>
            <a:r>
              <a:rPr lang="en-US" dirty="0"/>
              <a:t>, takes the three different values available in </a:t>
            </a:r>
            <a:r>
              <a:rPr lang="en-US" dirty="0" err="1"/>
              <a:t>OpenCV</a:t>
            </a:r>
            <a:r>
              <a:rPr lang="en-US" dirty="0"/>
              <a:t> (cv2.LINE_4, cv2.LINE_8, and cv2.LINE_AA). In this way, you can see the difference better when plotting these types. Remember that cv2.LINE_AA gives much better quality (an anti-aliased line type), but it is slower to draw than the other two types. The key code to draw some text is given next. The full code for this example can be seen in the text_drawing.py script:</a:t>
            </a:r>
          </a:p>
          <a:p>
            <a:endParaRPr lang="en-US" dirty="0"/>
          </a:p>
          <a:p>
            <a:pPr marL="0" indent="0">
              <a:buNone/>
            </a:pPr>
            <a:r>
              <a:rPr lang="en-US" dirty="0"/>
              <a:t># We draw some text on the image:</a:t>
            </a:r>
          </a:p>
          <a:p>
            <a:pPr marL="0" indent="0">
              <a:buNone/>
            </a:pPr>
            <a:r>
              <a:rPr lang="en-US" dirty="0"/>
              <a:t>cv2.putText(image, </a:t>
            </a:r>
            <a:r>
              <a:rPr lang="en-US" dirty="0" smtClean="0"/>
              <a:t>OpenCV4 </a:t>
            </a:r>
            <a:r>
              <a:rPr lang="en-US" dirty="0"/>
              <a:t>with Python', (10, 30), cv2.FONT_HERSHEY_SIMPLEX, 0.9, colors['red'], 2, cv2.LINE_4)</a:t>
            </a:r>
          </a:p>
          <a:p>
            <a:pPr marL="0" indent="0">
              <a:buNone/>
            </a:pPr>
            <a:r>
              <a:rPr lang="en-US" dirty="0"/>
              <a:t>cv2.putText(image, </a:t>
            </a:r>
            <a:r>
              <a:rPr lang="en-US" dirty="0" smtClean="0"/>
              <a:t>OpenCV4 </a:t>
            </a:r>
            <a:r>
              <a:rPr lang="en-US" dirty="0"/>
              <a:t>with Python', (10, 70), cv2.FONT_HERSHEY_SIMPLEX, 0.9, colors['red'], 2, cv2.LINE_8)</a:t>
            </a:r>
          </a:p>
          <a:p>
            <a:pPr marL="0" indent="0">
              <a:buNone/>
            </a:pPr>
            <a:r>
              <a:rPr lang="en-US" dirty="0"/>
              <a:t>cv2.putText(image, </a:t>
            </a:r>
            <a:r>
              <a:rPr lang="en-US" dirty="0" smtClean="0"/>
              <a:t>OpenCV4 </a:t>
            </a:r>
            <a:r>
              <a:rPr lang="en-US" dirty="0"/>
              <a:t>with Python', (10, 110), cv2.FONT_HERSHEY_SIMPLEX, 0.9, colors['red'], 2, cv2.LINE_AA)</a:t>
            </a:r>
          </a:p>
          <a:p>
            <a:pPr marL="0" indent="0">
              <a:buNone/>
            </a:pPr>
            <a:endParaRPr lang="en-US" dirty="0"/>
          </a:p>
          <a:p>
            <a:pPr marL="0" indent="0">
              <a:buNone/>
            </a:pPr>
            <a:r>
              <a:rPr lang="en-US" dirty="0"/>
              <a:t># Show image:</a:t>
            </a:r>
          </a:p>
          <a:p>
            <a:pPr marL="0" indent="0">
              <a:buNone/>
            </a:pPr>
            <a:r>
              <a:rPr lang="en-US" dirty="0" err="1"/>
              <a:t>show_with_matplotlib</a:t>
            </a:r>
            <a:r>
              <a:rPr lang="en-US" dirty="0"/>
              <a:t>(image, 'cv2.putText()')</a:t>
            </a:r>
          </a:p>
          <a:p>
            <a:pPr marL="0" indent="0">
              <a:buNone/>
            </a:pPr>
            <a:r>
              <a:rPr lang="en-US" dirty="0"/>
              <a:t>In the next screenshot, you can see the result:</a:t>
            </a:r>
          </a:p>
        </p:txBody>
      </p:sp>
    </p:spTree>
    <p:extLst>
      <p:ext uri="{BB962C8B-B14F-4D97-AF65-F5344CB8AC3E}">
        <p14:creationId xmlns:p14="http://schemas.microsoft.com/office/powerpoint/2010/main" val="28127604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Using all </a:t>
            </a:r>
            <a:r>
              <a:rPr lang="en-US" b="1" dirty="0" err="1"/>
              <a:t>OpenCV</a:t>
            </a:r>
            <a:r>
              <a:rPr lang="en-US" b="1" dirty="0"/>
              <a:t> text </a:t>
            </a:r>
            <a:r>
              <a:rPr lang="en-US" b="1" dirty="0" smtClean="0"/>
              <a:t>fonts</a:t>
            </a:r>
            <a:endParaRPr lang="en-US" dirty="0"/>
          </a:p>
        </p:txBody>
      </p:sp>
      <p:sp>
        <p:nvSpPr>
          <p:cNvPr id="3" name="Content Placeholder 2"/>
          <p:cNvSpPr>
            <a:spLocks noGrp="1"/>
          </p:cNvSpPr>
          <p:nvPr>
            <p:ph idx="1"/>
          </p:nvPr>
        </p:nvSpPr>
        <p:spPr/>
        <p:txBody>
          <a:bodyPr>
            <a:normAutofit fontScale="92500" lnSpcReduction="20000"/>
          </a:bodyPr>
          <a:lstStyle/>
          <a:p>
            <a:r>
              <a:rPr lang="en-US" dirty="0"/>
              <a:t>All the available fonts in </a:t>
            </a:r>
            <a:r>
              <a:rPr lang="en-US" dirty="0" err="1"/>
              <a:t>OpenCV</a:t>
            </a:r>
            <a:r>
              <a:rPr lang="en-US" dirty="0"/>
              <a:t> are as follows:</a:t>
            </a:r>
          </a:p>
          <a:p>
            <a:endParaRPr lang="en-US" dirty="0"/>
          </a:p>
          <a:p>
            <a:r>
              <a:rPr lang="en-US" dirty="0"/>
              <a:t>FONT_HERSHEY_SIMPLEX = 0</a:t>
            </a:r>
          </a:p>
          <a:p>
            <a:r>
              <a:rPr lang="en-US" dirty="0"/>
              <a:t>FONT_HERSHEY_PLAIN = 1</a:t>
            </a:r>
          </a:p>
          <a:p>
            <a:r>
              <a:rPr lang="en-US" dirty="0"/>
              <a:t>FONT_HERSHEY_DUPLEX = 2</a:t>
            </a:r>
          </a:p>
          <a:p>
            <a:r>
              <a:rPr lang="en-US" dirty="0"/>
              <a:t>FONT_HERSHEY_COMPLEX = 3</a:t>
            </a:r>
          </a:p>
          <a:p>
            <a:r>
              <a:rPr lang="en-US" dirty="0"/>
              <a:t>FONT_HERSHEY_TRIPLEX = 4</a:t>
            </a:r>
          </a:p>
          <a:p>
            <a:r>
              <a:rPr lang="en-US" dirty="0"/>
              <a:t>FONT_HERSHEY_COMPLEX_SMALL = 5</a:t>
            </a:r>
          </a:p>
          <a:p>
            <a:r>
              <a:rPr lang="en-US" dirty="0"/>
              <a:t>FONT_HERSHEY_SCRIPT_SIMPLEX = 6</a:t>
            </a:r>
          </a:p>
          <a:p>
            <a:r>
              <a:rPr lang="en-US" dirty="0"/>
              <a:t>FONT_HERSHEY_SCRIPT_COMPLEX = 7</a:t>
            </a:r>
          </a:p>
        </p:txBody>
      </p:sp>
    </p:spTree>
    <p:extLst>
      <p:ext uri="{BB962C8B-B14F-4D97-AF65-F5344CB8AC3E}">
        <p14:creationId xmlns:p14="http://schemas.microsoft.com/office/powerpoint/2010/main" val="902036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Using all </a:t>
            </a:r>
            <a:r>
              <a:rPr lang="en-US" b="1" dirty="0" err="1"/>
              <a:t>OpenCV</a:t>
            </a:r>
            <a:r>
              <a:rPr lang="en-US" b="1" dirty="0"/>
              <a:t> text fonts</a:t>
            </a:r>
            <a:endParaRPr lang="en-US" dirty="0"/>
          </a:p>
        </p:txBody>
      </p:sp>
      <p:sp>
        <p:nvSpPr>
          <p:cNvPr id="3" name="Content Placeholder 2"/>
          <p:cNvSpPr>
            <a:spLocks noGrp="1"/>
          </p:cNvSpPr>
          <p:nvPr>
            <p:ph idx="1"/>
          </p:nvPr>
        </p:nvSpPr>
        <p:spPr/>
        <p:txBody>
          <a:bodyPr>
            <a:normAutofit fontScale="77500" lnSpcReduction="20000"/>
          </a:bodyPr>
          <a:lstStyle/>
          <a:p>
            <a:r>
              <a:rPr lang="en-US" dirty="0"/>
              <a:t>In connection with this, we have coded the text_drawing_fonts.py script, which plots all the available fonts. As all these fonts are in the (0-7) range, we can iterate and call the cv2.putText() function, varying the color, </a:t>
            </a:r>
            <a:r>
              <a:rPr lang="en-US" dirty="0" err="1"/>
              <a:t>fontFace</a:t>
            </a:r>
            <a:r>
              <a:rPr lang="en-US" dirty="0"/>
              <a:t>, and org parameters. We have also plotted lowercase and uppercase versions of these fonts. The key piece of code to perform this functionality is as follows:</a:t>
            </a:r>
          </a:p>
          <a:p>
            <a:endParaRPr lang="en-US" dirty="0"/>
          </a:p>
          <a:p>
            <a:r>
              <a:rPr lang="en-US" dirty="0"/>
              <a:t>position = (10, 30)</a:t>
            </a:r>
          </a:p>
          <a:p>
            <a:r>
              <a:rPr lang="en-US" dirty="0"/>
              <a:t>for </a:t>
            </a:r>
            <a:r>
              <a:rPr lang="en-US" dirty="0" err="1"/>
              <a:t>i</a:t>
            </a:r>
            <a:r>
              <a:rPr lang="en-US" dirty="0"/>
              <a:t> in range(0, 8):</a:t>
            </a:r>
          </a:p>
          <a:p>
            <a:r>
              <a:rPr lang="en-US" dirty="0"/>
              <a:t>    cv2.putText(image, fonts[</a:t>
            </a:r>
            <a:r>
              <a:rPr lang="en-US" dirty="0" err="1"/>
              <a:t>i</a:t>
            </a:r>
            <a:r>
              <a:rPr lang="en-US" dirty="0"/>
              <a:t>], position, </a:t>
            </a:r>
            <a:r>
              <a:rPr lang="en-US" dirty="0" err="1"/>
              <a:t>i</a:t>
            </a:r>
            <a:r>
              <a:rPr lang="en-US" dirty="0"/>
              <a:t>, 1.1, colors[</a:t>
            </a:r>
            <a:r>
              <a:rPr lang="en-US" dirty="0" err="1"/>
              <a:t>index_colors</a:t>
            </a:r>
            <a:r>
              <a:rPr lang="en-US" dirty="0"/>
              <a:t>[</a:t>
            </a:r>
            <a:r>
              <a:rPr lang="en-US" dirty="0" err="1"/>
              <a:t>i</a:t>
            </a:r>
            <a:r>
              <a:rPr lang="en-US" dirty="0"/>
              <a:t>]], 2, cv2.LINE_4)</a:t>
            </a:r>
          </a:p>
          <a:p>
            <a:r>
              <a:rPr lang="en-US" dirty="0"/>
              <a:t>    position = (position[0], position[1] + 40)</a:t>
            </a:r>
          </a:p>
          <a:p>
            <a:r>
              <a:rPr lang="en-US" dirty="0"/>
              <a:t>    cv2.putText(image, fonts[</a:t>
            </a:r>
            <a:r>
              <a:rPr lang="en-US" dirty="0" err="1"/>
              <a:t>i</a:t>
            </a:r>
            <a:r>
              <a:rPr lang="en-US" dirty="0"/>
              <a:t>].lower(), position, </a:t>
            </a:r>
            <a:r>
              <a:rPr lang="en-US" dirty="0" err="1"/>
              <a:t>i</a:t>
            </a:r>
            <a:r>
              <a:rPr lang="en-US" dirty="0"/>
              <a:t>, 1.1, colors[</a:t>
            </a:r>
            <a:r>
              <a:rPr lang="en-US" dirty="0" err="1"/>
              <a:t>index_colors</a:t>
            </a:r>
            <a:r>
              <a:rPr lang="en-US" dirty="0"/>
              <a:t>[</a:t>
            </a:r>
            <a:r>
              <a:rPr lang="en-US" dirty="0" err="1"/>
              <a:t>i</a:t>
            </a:r>
            <a:r>
              <a:rPr lang="en-US" dirty="0"/>
              <a:t>]], 2, cv2.LINE_4)</a:t>
            </a:r>
          </a:p>
          <a:p>
            <a:r>
              <a:rPr lang="en-US" dirty="0"/>
              <a:t>    position = (position[0], position[1] + 40)</a:t>
            </a:r>
          </a:p>
        </p:txBody>
      </p:sp>
    </p:spTree>
    <p:extLst>
      <p:ext uri="{BB962C8B-B14F-4D97-AF65-F5344CB8AC3E}">
        <p14:creationId xmlns:p14="http://schemas.microsoft.com/office/powerpoint/2010/main" val="22794307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Using all </a:t>
            </a:r>
            <a:r>
              <a:rPr lang="en-US" b="1" dirty="0" err="1"/>
              <a:t>OpenCV</a:t>
            </a:r>
            <a:r>
              <a:rPr lang="en-US" b="1" dirty="0"/>
              <a:t> text fonts</a:t>
            </a:r>
            <a:endParaRPr lang="en-US" dirty="0"/>
          </a:p>
        </p:txBody>
      </p:sp>
      <p:pic>
        <p:nvPicPr>
          <p:cNvPr id="4" name="Content Placeholder 3"/>
          <p:cNvPicPr>
            <a:picLocks noGrp="1" noChangeAspect="1"/>
          </p:cNvPicPr>
          <p:nvPr>
            <p:ph idx="1"/>
          </p:nvPr>
        </p:nvPicPr>
        <p:blipFill>
          <a:blip r:embed="rId2"/>
          <a:stretch>
            <a:fillRect/>
          </a:stretch>
        </p:blipFill>
        <p:spPr>
          <a:xfrm>
            <a:off x="3571060" y="1825625"/>
            <a:ext cx="5049880" cy="4351338"/>
          </a:xfrm>
          <a:prstGeom prst="rect">
            <a:avLst/>
          </a:prstGeom>
        </p:spPr>
      </p:pic>
    </p:spTree>
    <p:extLst>
      <p:ext uri="{BB962C8B-B14F-4D97-AF65-F5344CB8AC3E}">
        <p14:creationId xmlns:p14="http://schemas.microsoft.com/office/powerpoint/2010/main" val="12594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More functions related to </a:t>
            </a:r>
            <a:r>
              <a:rPr lang="en-US" b="1" dirty="0" smtClean="0"/>
              <a:t>text</a:t>
            </a:r>
            <a:endParaRPr lang="en-US" dirty="0"/>
          </a:p>
        </p:txBody>
      </p:sp>
      <p:sp>
        <p:nvSpPr>
          <p:cNvPr id="3" name="Content Placeholder 2"/>
          <p:cNvSpPr>
            <a:spLocks noGrp="1"/>
          </p:cNvSpPr>
          <p:nvPr>
            <p:ph idx="1"/>
          </p:nvPr>
        </p:nvSpPr>
        <p:spPr/>
        <p:txBody>
          <a:bodyPr>
            <a:normAutofit fontScale="77500" lnSpcReduction="20000"/>
          </a:bodyPr>
          <a:lstStyle/>
          <a:p>
            <a:r>
              <a:rPr lang="en-US" dirty="0" err="1"/>
              <a:t>OpenCV</a:t>
            </a:r>
            <a:r>
              <a:rPr lang="en-US" dirty="0"/>
              <a:t> provides more functions in connection with text drawing. It should be noted that these functions are not for drawing text, but they can be used to complement the aforementioned cv2.putText() function, and they are commented as follows. The first function we are going to see is cv2.getFontScaleFromHeight(). The signature for this function is as follows:</a:t>
            </a:r>
          </a:p>
          <a:p>
            <a:endParaRPr lang="en-US" dirty="0"/>
          </a:p>
          <a:p>
            <a:r>
              <a:rPr lang="en-US" dirty="0" err="1"/>
              <a:t>retval</a:t>
            </a:r>
            <a:r>
              <a:rPr lang="en-US" dirty="0"/>
              <a:t> = cv2.getFontScaleFromHeight(</a:t>
            </a:r>
            <a:r>
              <a:rPr lang="en-US" dirty="0" err="1"/>
              <a:t>fontFace</a:t>
            </a:r>
            <a:r>
              <a:rPr lang="en-US" dirty="0"/>
              <a:t>, </a:t>
            </a:r>
            <a:r>
              <a:rPr lang="en-US" dirty="0" err="1"/>
              <a:t>pixelHeight</a:t>
            </a:r>
            <a:r>
              <a:rPr lang="en-US" dirty="0"/>
              <a:t>, thickness=1)</a:t>
            </a:r>
          </a:p>
          <a:p>
            <a:r>
              <a:rPr lang="en-US" dirty="0"/>
              <a:t>This function returns the font scale (</a:t>
            </a:r>
            <a:r>
              <a:rPr lang="en-US" dirty="0" err="1"/>
              <a:t>fontScale</a:t>
            </a:r>
            <a:r>
              <a:rPr lang="en-US" dirty="0"/>
              <a:t>), which is a parameter to use in the cv2.putText() function, to achieve the provided height (in pixels) and taking into account both the font type (</a:t>
            </a:r>
            <a:r>
              <a:rPr lang="en-US" dirty="0" err="1"/>
              <a:t>fontFace</a:t>
            </a:r>
            <a:r>
              <a:rPr lang="en-US" dirty="0"/>
              <a:t>) and thickness.</a:t>
            </a:r>
          </a:p>
          <a:p>
            <a:endParaRPr lang="en-US" dirty="0"/>
          </a:p>
          <a:p>
            <a:r>
              <a:rPr lang="en-US" dirty="0"/>
              <a:t>The second function is cv2.getTextSize():</a:t>
            </a:r>
          </a:p>
          <a:p>
            <a:endParaRPr lang="en-US" dirty="0"/>
          </a:p>
          <a:p>
            <a:r>
              <a:rPr lang="en-US" dirty="0" err="1"/>
              <a:t>retval</a:t>
            </a:r>
            <a:r>
              <a:rPr lang="en-US" dirty="0"/>
              <a:t>, </a:t>
            </a:r>
            <a:r>
              <a:rPr lang="en-US" dirty="0" err="1"/>
              <a:t>baseLine</a:t>
            </a:r>
            <a:r>
              <a:rPr lang="en-US" dirty="0"/>
              <a:t> = cv2.getTextSize(text, </a:t>
            </a:r>
            <a:r>
              <a:rPr lang="en-US" dirty="0" err="1"/>
              <a:t>fontFace</a:t>
            </a:r>
            <a:r>
              <a:rPr lang="en-US" dirty="0"/>
              <a:t>, </a:t>
            </a:r>
            <a:r>
              <a:rPr lang="en-US" dirty="0" err="1"/>
              <a:t>fontScale</a:t>
            </a:r>
            <a:r>
              <a:rPr lang="en-US" dirty="0"/>
              <a:t>, thickness)</a:t>
            </a:r>
          </a:p>
        </p:txBody>
      </p:sp>
    </p:spTree>
    <p:extLst>
      <p:ext uri="{BB962C8B-B14F-4D97-AF65-F5344CB8AC3E}">
        <p14:creationId xmlns:p14="http://schemas.microsoft.com/office/powerpoint/2010/main" val="20940731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More functions related to text</a:t>
            </a:r>
            <a:endParaRPr lang="en-US" dirty="0"/>
          </a:p>
        </p:txBody>
      </p:sp>
      <p:sp>
        <p:nvSpPr>
          <p:cNvPr id="3" name="Content Placeholder 2"/>
          <p:cNvSpPr>
            <a:spLocks noGrp="1"/>
          </p:cNvSpPr>
          <p:nvPr>
            <p:ph idx="1"/>
          </p:nvPr>
        </p:nvSpPr>
        <p:spPr/>
        <p:txBody>
          <a:bodyPr/>
          <a:lstStyle/>
          <a:p>
            <a:r>
              <a:rPr lang="en-US" dirty="0"/>
              <a:t>This function can be used to get the text size (width and height) based on the following arguments—text to draw, the font type (</a:t>
            </a:r>
            <a:r>
              <a:rPr lang="en-US" dirty="0" err="1"/>
              <a:t>fontFace</a:t>
            </a:r>
            <a:r>
              <a:rPr lang="en-US" dirty="0"/>
              <a:t>), scale, and thickness. This function returns size and </a:t>
            </a:r>
            <a:r>
              <a:rPr lang="en-US" dirty="0" err="1"/>
              <a:t>baseLine</a:t>
            </a:r>
            <a:r>
              <a:rPr lang="en-US" dirty="0"/>
              <a:t>, which corresponds to the y coordinate of the baseline relative to the bottom of the text. The next piece of code shows you the key aspects to see this functionality. The full code is available in the text_drawing_bounding_box.py script:</a:t>
            </a:r>
          </a:p>
        </p:txBody>
      </p:sp>
    </p:spTree>
    <p:extLst>
      <p:ext uri="{BB962C8B-B14F-4D97-AF65-F5344CB8AC3E}">
        <p14:creationId xmlns:p14="http://schemas.microsoft.com/office/powerpoint/2010/main" val="2171623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More functions related to text</a:t>
            </a:r>
            <a:endParaRPr lang="en-US" dirty="0"/>
          </a:p>
        </p:txBody>
      </p:sp>
      <p:sp>
        <p:nvSpPr>
          <p:cNvPr id="3" name="Content Placeholder 2"/>
          <p:cNvSpPr>
            <a:spLocks noGrp="1"/>
          </p:cNvSpPr>
          <p:nvPr>
            <p:ph idx="1"/>
          </p:nvPr>
        </p:nvSpPr>
        <p:spPr/>
        <p:txBody>
          <a:bodyPr numCol="3">
            <a:normAutofit fontScale="55000" lnSpcReduction="20000"/>
          </a:bodyPr>
          <a:lstStyle/>
          <a:p>
            <a:pPr marL="0" indent="0">
              <a:buNone/>
            </a:pPr>
            <a:r>
              <a:rPr lang="en-US" dirty="0"/>
              <a:t># assign parameters to use in the drawing functions</a:t>
            </a:r>
          </a:p>
          <a:p>
            <a:pPr marL="0" indent="0">
              <a:buNone/>
            </a:pPr>
            <a:r>
              <a:rPr lang="en-US" dirty="0"/>
              <a:t>font = cv2.FONT_HERSHEY_SIMPLEX</a:t>
            </a:r>
          </a:p>
          <a:p>
            <a:pPr marL="0" indent="0">
              <a:buNone/>
            </a:pPr>
            <a:r>
              <a:rPr lang="en-US" dirty="0" err="1"/>
              <a:t>font_scale</a:t>
            </a:r>
            <a:r>
              <a:rPr lang="en-US" dirty="0"/>
              <a:t> = 2.5</a:t>
            </a:r>
          </a:p>
          <a:p>
            <a:pPr marL="0" indent="0">
              <a:buNone/>
            </a:pPr>
            <a:r>
              <a:rPr lang="en-US" dirty="0"/>
              <a:t>thickness = 5</a:t>
            </a:r>
          </a:p>
          <a:p>
            <a:pPr marL="0" indent="0">
              <a:buNone/>
            </a:pPr>
            <a:r>
              <a:rPr lang="en-US" dirty="0"/>
              <a:t>text = '</a:t>
            </a:r>
            <a:r>
              <a:rPr lang="en-US" dirty="0" err="1"/>
              <a:t>abcdefghijklmnopqrstuvwxyz</a:t>
            </a:r>
            <a:r>
              <a:rPr lang="en-US" dirty="0"/>
              <a:t>'</a:t>
            </a:r>
          </a:p>
          <a:p>
            <a:pPr marL="0" indent="0">
              <a:buNone/>
            </a:pPr>
            <a:r>
              <a:rPr lang="en-US" dirty="0" err="1"/>
              <a:t>circle_radius</a:t>
            </a:r>
            <a:r>
              <a:rPr lang="en-US" dirty="0"/>
              <a:t> = 10</a:t>
            </a:r>
          </a:p>
          <a:p>
            <a:pPr marL="0" indent="0">
              <a:buNone/>
            </a:pPr>
            <a:endParaRPr lang="en-US" dirty="0"/>
          </a:p>
          <a:p>
            <a:pPr marL="0" indent="0">
              <a:buNone/>
            </a:pPr>
            <a:r>
              <a:rPr lang="en-US" dirty="0"/>
              <a:t># We get the size of the text</a:t>
            </a:r>
          </a:p>
          <a:p>
            <a:pPr marL="0" indent="0">
              <a:buNone/>
            </a:pPr>
            <a:r>
              <a:rPr lang="en-US" dirty="0"/>
              <a:t>ret, baseline = cv2.getTextSize(text, font, </a:t>
            </a:r>
            <a:r>
              <a:rPr lang="en-US" dirty="0" err="1"/>
              <a:t>font_scale</a:t>
            </a:r>
            <a:r>
              <a:rPr lang="en-US" dirty="0"/>
              <a:t>, thickness)</a:t>
            </a:r>
          </a:p>
          <a:p>
            <a:pPr marL="0" indent="0">
              <a:buNone/>
            </a:pPr>
            <a:endParaRPr lang="en-US" dirty="0"/>
          </a:p>
          <a:p>
            <a:pPr marL="0" indent="0">
              <a:buNone/>
            </a:pPr>
            <a:r>
              <a:rPr lang="en-US" dirty="0"/>
              <a:t># We get the text width and text height from ret</a:t>
            </a:r>
          </a:p>
          <a:p>
            <a:pPr marL="0" indent="0">
              <a:buNone/>
            </a:pPr>
            <a:r>
              <a:rPr lang="en-US" dirty="0" err="1"/>
              <a:t>text_width</a:t>
            </a:r>
            <a:r>
              <a:rPr lang="en-US" dirty="0"/>
              <a:t>, </a:t>
            </a:r>
            <a:r>
              <a:rPr lang="en-US" dirty="0" err="1"/>
              <a:t>text_height</a:t>
            </a:r>
            <a:r>
              <a:rPr lang="en-US" dirty="0"/>
              <a:t> = ret</a:t>
            </a:r>
          </a:p>
          <a:p>
            <a:pPr marL="0" indent="0">
              <a:buNone/>
            </a:pPr>
            <a:endParaRPr lang="en-US" dirty="0"/>
          </a:p>
          <a:p>
            <a:pPr marL="0" indent="0">
              <a:buNone/>
            </a:pPr>
            <a:r>
              <a:rPr lang="en-US" dirty="0"/>
              <a:t># We center the text in the image</a:t>
            </a:r>
          </a:p>
          <a:p>
            <a:pPr marL="0" indent="0">
              <a:buNone/>
            </a:pPr>
            <a:r>
              <a:rPr lang="en-US" dirty="0" err="1"/>
              <a:t>text_x</a:t>
            </a:r>
            <a:r>
              <a:rPr lang="en-US" dirty="0"/>
              <a:t> = </a:t>
            </a:r>
            <a:r>
              <a:rPr lang="en-US" dirty="0" err="1"/>
              <a:t>int</a:t>
            </a:r>
            <a:r>
              <a:rPr lang="en-US" dirty="0"/>
              <a:t>(round((</a:t>
            </a:r>
            <a:r>
              <a:rPr lang="en-US" dirty="0" err="1"/>
              <a:t>image.shape</a:t>
            </a:r>
            <a:r>
              <a:rPr lang="en-US" dirty="0"/>
              <a:t>[1] - </a:t>
            </a:r>
            <a:r>
              <a:rPr lang="en-US" dirty="0" err="1"/>
              <a:t>text_width</a:t>
            </a:r>
            <a:r>
              <a:rPr lang="en-US" dirty="0"/>
              <a:t>) / 2))</a:t>
            </a:r>
          </a:p>
          <a:p>
            <a:pPr marL="0" indent="0">
              <a:buNone/>
            </a:pPr>
            <a:r>
              <a:rPr lang="en-US" dirty="0" err="1"/>
              <a:t>text_y</a:t>
            </a:r>
            <a:r>
              <a:rPr lang="en-US" dirty="0"/>
              <a:t> = </a:t>
            </a:r>
            <a:r>
              <a:rPr lang="en-US" dirty="0" err="1"/>
              <a:t>int</a:t>
            </a:r>
            <a:r>
              <a:rPr lang="en-US" dirty="0"/>
              <a:t>(round((</a:t>
            </a:r>
            <a:r>
              <a:rPr lang="en-US" dirty="0" err="1"/>
              <a:t>image.shape</a:t>
            </a:r>
            <a:r>
              <a:rPr lang="en-US" dirty="0"/>
              <a:t>[0] + </a:t>
            </a:r>
            <a:r>
              <a:rPr lang="en-US" dirty="0" err="1"/>
              <a:t>text_height</a:t>
            </a:r>
            <a:r>
              <a:rPr lang="en-US" dirty="0"/>
              <a:t>) / 2))</a:t>
            </a:r>
          </a:p>
          <a:p>
            <a:pPr marL="0" indent="0">
              <a:buNone/>
            </a:pPr>
            <a:endParaRPr lang="en-US" dirty="0"/>
          </a:p>
          <a:p>
            <a:pPr marL="0" indent="0">
              <a:buNone/>
            </a:pPr>
            <a:r>
              <a:rPr lang="en-US" dirty="0"/>
              <a:t># Draw this point for reference:</a:t>
            </a:r>
          </a:p>
          <a:p>
            <a:pPr marL="0" indent="0">
              <a:buNone/>
            </a:pPr>
            <a:r>
              <a:rPr lang="en-US" dirty="0"/>
              <a:t>cv2.circle(image, (</a:t>
            </a:r>
            <a:r>
              <a:rPr lang="en-US" dirty="0" err="1"/>
              <a:t>text_x</a:t>
            </a:r>
            <a:r>
              <a:rPr lang="en-US" dirty="0"/>
              <a:t>, </a:t>
            </a:r>
            <a:r>
              <a:rPr lang="en-US" dirty="0" err="1"/>
              <a:t>text_y</a:t>
            </a:r>
            <a:r>
              <a:rPr lang="en-US" dirty="0"/>
              <a:t>), </a:t>
            </a:r>
            <a:r>
              <a:rPr lang="en-US" dirty="0" err="1"/>
              <a:t>circle_radius</a:t>
            </a:r>
            <a:r>
              <a:rPr lang="en-US" dirty="0"/>
              <a:t>, colors['green'], -1)</a:t>
            </a:r>
          </a:p>
          <a:p>
            <a:pPr marL="0" indent="0">
              <a:buNone/>
            </a:pPr>
            <a:endParaRPr lang="en-US" dirty="0"/>
          </a:p>
          <a:p>
            <a:pPr marL="0" indent="0">
              <a:buNone/>
            </a:pPr>
            <a:r>
              <a:rPr lang="en-US" dirty="0"/>
              <a:t># Draw the rectangle (bounding box of the text)</a:t>
            </a:r>
          </a:p>
          <a:p>
            <a:pPr marL="0" indent="0">
              <a:buNone/>
            </a:pPr>
            <a:r>
              <a:rPr lang="en-US" dirty="0"/>
              <a:t>cv2.rectangle(image, (</a:t>
            </a:r>
            <a:r>
              <a:rPr lang="en-US" dirty="0" err="1"/>
              <a:t>text_x</a:t>
            </a:r>
            <a:r>
              <a:rPr lang="en-US" dirty="0"/>
              <a:t>, </a:t>
            </a:r>
            <a:r>
              <a:rPr lang="en-US" dirty="0" err="1"/>
              <a:t>text_y</a:t>
            </a:r>
            <a:r>
              <a:rPr lang="en-US" dirty="0"/>
              <a:t> + baseline), (</a:t>
            </a:r>
            <a:r>
              <a:rPr lang="en-US" dirty="0" err="1"/>
              <a:t>text_x</a:t>
            </a:r>
            <a:r>
              <a:rPr lang="en-US" dirty="0"/>
              <a:t> + </a:t>
            </a:r>
            <a:r>
              <a:rPr lang="en-US" dirty="0" err="1"/>
              <a:t>text_width</a:t>
            </a:r>
            <a:r>
              <a:rPr lang="en-US" dirty="0"/>
              <a:t> - thickness, </a:t>
            </a:r>
            <a:r>
              <a:rPr lang="en-US" dirty="0" err="1"/>
              <a:t>text_y</a:t>
            </a:r>
            <a:r>
              <a:rPr lang="en-US" dirty="0"/>
              <a:t> - </a:t>
            </a:r>
            <a:r>
              <a:rPr lang="en-US" dirty="0" err="1"/>
              <a:t>text_height</a:t>
            </a:r>
            <a:r>
              <a:rPr lang="en-US" dirty="0"/>
              <a:t>),</a:t>
            </a:r>
          </a:p>
          <a:p>
            <a:pPr marL="0" indent="0">
              <a:buNone/>
            </a:pPr>
            <a:r>
              <a:rPr lang="en-US" dirty="0"/>
              <a:t>              colors['blue'], thickness)</a:t>
            </a:r>
          </a:p>
          <a:p>
            <a:pPr marL="0" indent="0">
              <a:buNone/>
            </a:pPr>
            <a:endParaRPr lang="en-US" dirty="0"/>
          </a:p>
          <a:p>
            <a:pPr marL="0" indent="0">
              <a:buNone/>
            </a:pPr>
            <a:r>
              <a:rPr lang="en-US" dirty="0"/>
              <a:t># Draw the circles defining the rectangle</a:t>
            </a:r>
          </a:p>
          <a:p>
            <a:pPr marL="0" indent="0">
              <a:buNone/>
            </a:pPr>
            <a:r>
              <a:rPr lang="en-US" dirty="0"/>
              <a:t>cv2.circle(image, (</a:t>
            </a:r>
            <a:r>
              <a:rPr lang="en-US" dirty="0" err="1"/>
              <a:t>text_x</a:t>
            </a:r>
            <a:r>
              <a:rPr lang="en-US" dirty="0"/>
              <a:t>, </a:t>
            </a:r>
            <a:r>
              <a:rPr lang="en-US" dirty="0" err="1"/>
              <a:t>text_y</a:t>
            </a:r>
            <a:r>
              <a:rPr lang="en-US" dirty="0"/>
              <a:t> + baseline), </a:t>
            </a:r>
            <a:r>
              <a:rPr lang="en-US" dirty="0" err="1"/>
              <a:t>circle_radius</a:t>
            </a:r>
            <a:r>
              <a:rPr lang="en-US" dirty="0"/>
              <a:t>, colors['red'], -1)</a:t>
            </a:r>
          </a:p>
          <a:p>
            <a:pPr marL="0" indent="0">
              <a:buNone/>
            </a:pPr>
            <a:r>
              <a:rPr lang="en-US" dirty="0"/>
              <a:t>cv2.circle(image, (</a:t>
            </a:r>
            <a:r>
              <a:rPr lang="en-US" dirty="0" err="1"/>
              <a:t>text_x</a:t>
            </a:r>
            <a:r>
              <a:rPr lang="en-US" dirty="0"/>
              <a:t> + </a:t>
            </a:r>
            <a:r>
              <a:rPr lang="en-US" dirty="0" err="1"/>
              <a:t>text_width</a:t>
            </a:r>
            <a:r>
              <a:rPr lang="en-US" dirty="0"/>
              <a:t> - thickness, </a:t>
            </a:r>
            <a:r>
              <a:rPr lang="en-US" dirty="0" err="1"/>
              <a:t>text_y</a:t>
            </a:r>
            <a:r>
              <a:rPr lang="en-US" dirty="0"/>
              <a:t> - </a:t>
            </a:r>
            <a:r>
              <a:rPr lang="en-US" dirty="0" err="1"/>
              <a:t>text_height</a:t>
            </a:r>
            <a:r>
              <a:rPr lang="en-US" dirty="0"/>
              <a:t>), </a:t>
            </a:r>
            <a:r>
              <a:rPr lang="en-US" dirty="0" err="1"/>
              <a:t>circle_radius</a:t>
            </a:r>
            <a:r>
              <a:rPr lang="en-US" dirty="0"/>
              <a:t>, colors['cyan'], -1)</a:t>
            </a:r>
          </a:p>
          <a:p>
            <a:pPr marL="0" indent="0">
              <a:buNone/>
            </a:pPr>
            <a:endParaRPr lang="en-US" dirty="0"/>
          </a:p>
          <a:p>
            <a:pPr marL="0" indent="0">
              <a:buNone/>
            </a:pPr>
            <a:r>
              <a:rPr lang="en-US" dirty="0"/>
              <a:t># Draw the baseline line</a:t>
            </a:r>
          </a:p>
          <a:p>
            <a:pPr marL="0" indent="0">
              <a:buNone/>
            </a:pPr>
            <a:r>
              <a:rPr lang="en-US" dirty="0"/>
              <a:t>cv2.line(image, (</a:t>
            </a:r>
            <a:r>
              <a:rPr lang="en-US" dirty="0" err="1"/>
              <a:t>text_x</a:t>
            </a:r>
            <a:r>
              <a:rPr lang="en-US" dirty="0"/>
              <a:t>, </a:t>
            </a:r>
            <a:r>
              <a:rPr lang="en-US" dirty="0" err="1"/>
              <a:t>text_y</a:t>
            </a:r>
            <a:r>
              <a:rPr lang="en-US" dirty="0"/>
              <a:t> + </a:t>
            </a:r>
            <a:r>
              <a:rPr lang="en-US" dirty="0" err="1"/>
              <a:t>int</a:t>
            </a:r>
            <a:r>
              <a:rPr lang="en-US" dirty="0"/>
              <a:t>(round(thickness/2))), (</a:t>
            </a:r>
            <a:r>
              <a:rPr lang="en-US" dirty="0" err="1"/>
              <a:t>text_x</a:t>
            </a:r>
            <a:r>
              <a:rPr lang="en-US" dirty="0"/>
              <a:t> + </a:t>
            </a:r>
            <a:r>
              <a:rPr lang="en-US" dirty="0" err="1"/>
              <a:t>text_width</a:t>
            </a:r>
            <a:r>
              <a:rPr lang="en-US" dirty="0"/>
              <a:t> - thickness, </a:t>
            </a:r>
            <a:r>
              <a:rPr lang="en-US" dirty="0" err="1"/>
              <a:t>text_y</a:t>
            </a:r>
            <a:r>
              <a:rPr lang="en-US" dirty="0"/>
              <a:t> +</a:t>
            </a:r>
          </a:p>
          <a:p>
            <a:pPr marL="0" indent="0">
              <a:buNone/>
            </a:pPr>
            <a:r>
              <a:rPr lang="en-US" dirty="0"/>
              <a:t>                                                             </a:t>
            </a:r>
            <a:r>
              <a:rPr lang="en-US" dirty="0" err="1"/>
              <a:t>int</a:t>
            </a:r>
            <a:r>
              <a:rPr lang="en-US" dirty="0"/>
              <a:t>(round(thickness/2))), colors['yellow'], thickness)</a:t>
            </a:r>
          </a:p>
          <a:p>
            <a:pPr marL="0" indent="0">
              <a:buNone/>
            </a:pPr>
            <a:r>
              <a:rPr lang="en-US" dirty="0"/>
              <a:t># Write the text centered in the image</a:t>
            </a:r>
          </a:p>
          <a:p>
            <a:pPr marL="0" indent="0">
              <a:buNone/>
            </a:pPr>
            <a:r>
              <a:rPr lang="en-US" dirty="0"/>
              <a:t>cv2.putText(image, text, (</a:t>
            </a:r>
            <a:r>
              <a:rPr lang="en-US" dirty="0" err="1"/>
              <a:t>text_x</a:t>
            </a:r>
            <a:r>
              <a:rPr lang="en-US" dirty="0"/>
              <a:t>, </a:t>
            </a:r>
            <a:r>
              <a:rPr lang="en-US" dirty="0" err="1"/>
              <a:t>text_y</a:t>
            </a:r>
            <a:r>
              <a:rPr lang="en-US" dirty="0"/>
              <a:t>), font, </a:t>
            </a:r>
            <a:r>
              <a:rPr lang="en-US" dirty="0" err="1"/>
              <a:t>font_scale</a:t>
            </a:r>
            <a:r>
              <a:rPr lang="en-US" dirty="0"/>
              <a:t>, colors['magenta'], thickness)</a:t>
            </a:r>
          </a:p>
        </p:txBody>
      </p:sp>
    </p:spTree>
    <p:extLst>
      <p:ext uri="{BB962C8B-B14F-4D97-AF65-F5344CB8AC3E}">
        <p14:creationId xmlns:p14="http://schemas.microsoft.com/office/powerpoint/2010/main" val="1343739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More functions related to text</a:t>
            </a:r>
            <a:endParaRPr lang="en-US" dirty="0"/>
          </a:p>
        </p:txBody>
      </p:sp>
      <p:pic>
        <p:nvPicPr>
          <p:cNvPr id="4" name="Content Placeholder 3"/>
          <p:cNvPicPr>
            <a:picLocks noGrp="1" noChangeAspect="1"/>
          </p:cNvPicPr>
          <p:nvPr>
            <p:ph idx="1"/>
          </p:nvPr>
        </p:nvPicPr>
        <p:blipFill>
          <a:blip r:embed="rId2"/>
          <a:stretch>
            <a:fillRect/>
          </a:stretch>
        </p:blipFill>
        <p:spPr>
          <a:xfrm>
            <a:off x="3465919" y="1825625"/>
            <a:ext cx="5260162" cy="4351338"/>
          </a:xfrm>
          <a:prstGeom prst="rect">
            <a:avLst/>
          </a:prstGeom>
        </p:spPr>
      </p:pic>
    </p:spTree>
    <p:extLst>
      <p:ext uri="{BB962C8B-B14F-4D97-AF65-F5344CB8AC3E}">
        <p14:creationId xmlns:p14="http://schemas.microsoft.com/office/powerpoint/2010/main" val="34429899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Dynamic drawing with mouse </a:t>
            </a:r>
            <a:r>
              <a:rPr lang="en-US" b="1" dirty="0" smtClean="0"/>
              <a:t>events</a:t>
            </a:r>
            <a:endParaRPr lang="en-US" dirty="0"/>
          </a:p>
        </p:txBody>
      </p:sp>
      <p:sp>
        <p:nvSpPr>
          <p:cNvPr id="3" name="Content Placeholder 2"/>
          <p:cNvSpPr>
            <a:spLocks noGrp="1"/>
          </p:cNvSpPr>
          <p:nvPr>
            <p:ph idx="1"/>
          </p:nvPr>
        </p:nvSpPr>
        <p:spPr/>
        <p:txBody>
          <a:bodyPr/>
          <a:lstStyle/>
          <a:p>
            <a:r>
              <a:rPr lang="en-US" dirty="0"/>
              <a:t>In this section, you will learn how to perform dynamic drawing using mouse events. We are going to see some examples in increasing order of complexity.</a:t>
            </a:r>
            <a:endParaRPr lang="en-US" dirty="0"/>
          </a:p>
        </p:txBody>
      </p:sp>
    </p:spTree>
    <p:extLst>
      <p:ext uri="{BB962C8B-B14F-4D97-AF65-F5344CB8AC3E}">
        <p14:creationId xmlns:p14="http://schemas.microsoft.com/office/powerpoint/2010/main" val="33597858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dynamic </a:t>
            </a:r>
            <a:r>
              <a:rPr lang="en-US" b="1" dirty="0" smtClean="0"/>
              <a:t>shapes</a:t>
            </a:r>
            <a:endParaRPr lang="en-US" dirty="0"/>
          </a:p>
        </p:txBody>
      </p:sp>
      <p:sp>
        <p:nvSpPr>
          <p:cNvPr id="3" name="Content Placeholder 2"/>
          <p:cNvSpPr>
            <a:spLocks noGrp="1"/>
          </p:cNvSpPr>
          <p:nvPr>
            <p:ph idx="1"/>
          </p:nvPr>
        </p:nvSpPr>
        <p:spPr/>
        <p:txBody>
          <a:bodyPr>
            <a:normAutofit fontScale="92500"/>
          </a:bodyPr>
          <a:lstStyle/>
          <a:p>
            <a:r>
              <a:rPr lang="en-US" dirty="0"/>
              <a:t>The next example gives you an introduction into how to handle mouse events with </a:t>
            </a:r>
            <a:r>
              <a:rPr lang="en-US" dirty="0" err="1"/>
              <a:t>OpenCV</a:t>
            </a:r>
            <a:r>
              <a:rPr lang="en-US" dirty="0"/>
              <a:t>. The cv2.setMouseCallback() function performs this functionality. The signature for this method is as follows:</a:t>
            </a:r>
          </a:p>
          <a:p>
            <a:endParaRPr lang="en-US" dirty="0"/>
          </a:p>
          <a:p>
            <a:pPr marL="0" indent="0">
              <a:buNone/>
            </a:pPr>
            <a:r>
              <a:rPr lang="en-US" dirty="0"/>
              <a:t>cv2.setMouseCallback(</a:t>
            </a:r>
            <a:r>
              <a:rPr lang="en-US" dirty="0" err="1"/>
              <a:t>windowName</a:t>
            </a:r>
            <a:r>
              <a:rPr lang="en-US" dirty="0"/>
              <a:t>, </a:t>
            </a:r>
            <a:r>
              <a:rPr lang="en-US" dirty="0" err="1"/>
              <a:t>onMouse</a:t>
            </a:r>
            <a:r>
              <a:rPr lang="en-US" dirty="0"/>
              <a:t>, </a:t>
            </a:r>
            <a:r>
              <a:rPr lang="en-US" dirty="0" err="1"/>
              <a:t>param</a:t>
            </a:r>
            <a:r>
              <a:rPr lang="en-US" dirty="0"/>
              <a:t>=None)</a:t>
            </a:r>
          </a:p>
          <a:p>
            <a:r>
              <a:rPr lang="en-US" dirty="0"/>
              <a:t>This function establishes the mouse handler for the window named </a:t>
            </a:r>
            <a:r>
              <a:rPr lang="en-US" dirty="0" err="1"/>
              <a:t>windowName</a:t>
            </a:r>
            <a:r>
              <a:rPr lang="en-US" dirty="0"/>
              <a:t>. The </a:t>
            </a:r>
            <a:r>
              <a:rPr lang="en-US" dirty="0" err="1"/>
              <a:t>onMouse</a:t>
            </a:r>
            <a:r>
              <a:rPr lang="en-US" dirty="0"/>
              <a:t> function is the callback function, which is called when a mouse event is performed (for example, double-click, left-button down, left-button up, among others). The optional </a:t>
            </a:r>
            <a:r>
              <a:rPr lang="en-US" dirty="0" err="1"/>
              <a:t>param</a:t>
            </a:r>
            <a:r>
              <a:rPr lang="en-US" dirty="0"/>
              <a:t> parameter is used to pass additional information to the callback function. </a:t>
            </a:r>
          </a:p>
        </p:txBody>
      </p:sp>
    </p:spTree>
    <p:extLst>
      <p:ext uri="{BB962C8B-B14F-4D97-AF65-F5344CB8AC3E}">
        <p14:creationId xmlns:p14="http://schemas.microsoft.com/office/powerpoint/2010/main" val="10982847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dynamic shapes</a:t>
            </a:r>
            <a:endParaRPr lang="en-US" dirty="0"/>
          </a:p>
        </p:txBody>
      </p:sp>
      <p:sp>
        <p:nvSpPr>
          <p:cNvPr id="3" name="Content Placeholder 2"/>
          <p:cNvSpPr>
            <a:spLocks noGrp="1"/>
          </p:cNvSpPr>
          <p:nvPr>
            <p:ph idx="1"/>
          </p:nvPr>
        </p:nvSpPr>
        <p:spPr>
          <a:xfrm>
            <a:off x="838200" y="1763980"/>
            <a:ext cx="10515600" cy="5094020"/>
          </a:xfrm>
        </p:spPr>
        <p:txBody>
          <a:bodyPr>
            <a:normAutofit fontScale="47500" lnSpcReduction="20000"/>
          </a:bodyPr>
          <a:lstStyle/>
          <a:p>
            <a:r>
              <a:rPr lang="en-US" dirty="0"/>
              <a:t>So the first step is to create the callback function</a:t>
            </a:r>
            <a:r>
              <a:rPr lang="en-US" dirty="0" smtClean="0"/>
              <a:t>:</a:t>
            </a:r>
          </a:p>
          <a:p>
            <a:pPr marL="0" indent="0">
              <a:buNone/>
            </a:pPr>
            <a:r>
              <a:rPr lang="en-US" dirty="0"/>
              <a:t># This is the mouse callback function:</a:t>
            </a:r>
          </a:p>
          <a:p>
            <a:pPr marL="0" indent="0">
              <a:buNone/>
            </a:pPr>
            <a:r>
              <a:rPr lang="en-US" dirty="0" err="1"/>
              <a:t>def</a:t>
            </a:r>
            <a:r>
              <a:rPr lang="en-US" dirty="0"/>
              <a:t> </a:t>
            </a:r>
            <a:r>
              <a:rPr lang="en-US" dirty="0" err="1"/>
              <a:t>draw_circle</a:t>
            </a:r>
            <a:r>
              <a:rPr lang="en-US" dirty="0"/>
              <a:t>(event, x, y, flags, </a:t>
            </a:r>
            <a:r>
              <a:rPr lang="en-US" dirty="0" err="1"/>
              <a:t>param</a:t>
            </a:r>
            <a:r>
              <a:rPr lang="en-US" dirty="0"/>
              <a:t>):</a:t>
            </a:r>
          </a:p>
          <a:p>
            <a:pPr marL="0" indent="0">
              <a:buNone/>
            </a:pPr>
            <a:r>
              <a:rPr lang="en-US" dirty="0"/>
              <a:t>    if event == cv2.EVENT_LBUTTONDBLCLK:</a:t>
            </a:r>
          </a:p>
          <a:p>
            <a:pPr marL="0" indent="0">
              <a:buNone/>
            </a:pPr>
            <a:r>
              <a:rPr lang="en-US" dirty="0"/>
              <a:t>        print("event: EVENT_LBUTTONDBLCLK")</a:t>
            </a:r>
          </a:p>
          <a:p>
            <a:pPr marL="0" indent="0">
              <a:buNone/>
            </a:pPr>
            <a:r>
              <a:rPr lang="en-US" dirty="0"/>
              <a:t>        cv2.circle(image, (x, y), 10, colors['magenta'], -1)</a:t>
            </a:r>
          </a:p>
          <a:p>
            <a:pPr marL="0" indent="0">
              <a:buNone/>
            </a:pPr>
            <a:endParaRPr lang="en-US" dirty="0"/>
          </a:p>
          <a:p>
            <a:pPr marL="0" indent="0">
              <a:buNone/>
            </a:pPr>
            <a:r>
              <a:rPr lang="en-US" dirty="0"/>
              <a:t>    if event == cv2.EVENT_MOUSEMOVE:</a:t>
            </a:r>
          </a:p>
          <a:p>
            <a:pPr marL="0" indent="0">
              <a:buNone/>
            </a:pPr>
            <a:r>
              <a:rPr lang="en-US" dirty="0"/>
              <a:t>        print("event: EVENT_MOUSEMOVE")</a:t>
            </a:r>
          </a:p>
          <a:p>
            <a:pPr marL="0" indent="0">
              <a:buNone/>
            </a:pPr>
            <a:endParaRPr lang="en-US" dirty="0"/>
          </a:p>
          <a:p>
            <a:pPr marL="0" indent="0">
              <a:buNone/>
            </a:pPr>
            <a:r>
              <a:rPr lang="en-US" dirty="0"/>
              <a:t>    if event == cv2.EVENT_LBUTTONUP:</a:t>
            </a:r>
          </a:p>
          <a:p>
            <a:pPr marL="0" indent="0">
              <a:buNone/>
            </a:pPr>
            <a:r>
              <a:rPr lang="en-US" dirty="0"/>
              <a:t>        print("event: EVENT_LBUTTONUP")</a:t>
            </a:r>
          </a:p>
          <a:p>
            <a:pPr marL="0" indent="0">
              <a:buNone/>
            </a:pPr>
            <a:endParaRPr lang="en-US" dirty="0"/>
          </a:p>
          <a:p>
            <a:pPr marL="0" indent="0">
              <a:buNone/>
            </a:pPr>
            <a:r>
              <a:rPr lang="en-US" dirty="0"/>
              <a:t>    if event == cv2.EVENT_LBUTTONDOWN:</a:t>
            </a:r>
          </a:p>
          <a:p>
            <a:pPr marL="0" indent="0">
              <a:buNone/>
            </a:pPr>
            <a:r>
              <a:rPr lang="en-US" dirty="0"/>
              <a:t>        print("event: EVENT_LBUTTONDOWN</a:t>
            </a:r>
            <a:r>
              <a:rPr lang="en-US" dirty="0" smtClean="0"/>
              <a:t>")</a:t>
            </a:r>
          </a:p>
          <a:p>
            <a:pPr marL="0" indent="0">
              <a:buNone/>
            </a:pPr>
            <a:r>
              <a:rPr lang="en-US" dirty="0"/>
              <a:t>The </a:t>
            </a:r>
            <a:r>
              <a:rPr lang="en-US" dirty="0" err="1"/>
              <a:t>draw_circle</a:t>
            </a:r>
            <a:r>
              <a:rPr lang="en-US" dirty="0"/>
              <a:t>() function receives the specific event and the coordinates (x, y) for every mouse event. In this case, when a left double-click (cv2.EVENT_LBUTTONDBLCLK) is performed, we draw a circle in the corresponding (x, y) coordinates on the event.</a:t>
            </a:r>
          </a:p>
          <a:p>
            <a:pPr marL="0" indent="0">
              <a:buNone/>
            </a:pPr>
            <a:endParaRPr lang="en-US" dirty="0"/>
          </a:p>
          <a:p>
            <a:pPr marL="0" indent="0">
              <a:buNone/>
            </a:pPr>
            <a:r>
              <a:rPr lang="en-US" dirty="0"/>
              <a:t>Additionally, we have also printed some messages in order to see other produced events, but we do not use them to perform any additional actions.</a:t>
            </a:r>
          </a:p>
        </p:txBody>
      </p:sp>
    </p:spTree>
    <p:extLst>
      <p:ext uri="{BB962C8B-B14F-4D97-AF65-F5344CB8AC3E}">
        <p14:creationId xmlns:p14="http://schemas.microsoft.com/office/powerpoint/2010/main" val="18617679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dynamic shapes</a:t>
            </a:r>
            <a:endParaRPr lang="en-US" dirty="0"/>
          </a:p>
        </p:txBody>
      </p:sp>
      <p:sp>
        <p:nvSpPr>
          <p:cNvPr id="3" name="Content Placeholder 2"/>
          <p:cNvSpPr>
            <a:spLocks noGrp="1"/>
          </p:cNvSpPr>
          <p:nvPr>
            <p:ph idx="1"/>
          </p:nvPr>
        </p:nvSpPr>
        <p:spPr/>
        <p:txBody>
          <a:bodyPr>
            <a:normAutofit fontScale="77500" lnSpcReduction="20000"/>
          </a:bodyPr>
          <a:lstStyle/>
          <a:p>
            <a:r>
              <a:rPr lang="en-US" dirty="0"/>
              <a:t>The next step is to create a named window. In this case, we named it Image mouse. This named window is where the mouse callback function will be associated with:</a:t>
            </a:r>
          </a:p>
          <a:p>
            <a:endParaRPr lang="en-US" dirty="0"/>
          </a:p>
          <a:p>
            <a:r>
              <a:rPr lang="en-US" dirty="0"/>
              <a:t># We create a named window where the mouse callback will be established</a:t>
            </a:r>
          </a:p>
          <a:p>
            <a:r>
              <a:rPr lang="en-US" dirty="0"/>
              <a:t>cv2.namedWindow('Image mouse')</a:t>
            </a:r>
          </a:p>
          <a:p>
            <a:r>
              <a:rPr lang="en-US" dirty="0"/>
              <a:t>And finally, we set (or activate) the mouse callback function to the function we created before:</a:t>
            </a:r>
          </a:p>
          <a:p>
            <a:endParaRPr lang="en-US" dirty="0"/>
          </a:p>
          <a:p>
            <a:r>
              <a:rPr lang="en-US" dirty="0"/>
              <a:t># We set the mouse callback function to '</a:t>
            </a:r>
            <a:r>
              <a:rPr lang="en-US" dirty="0" err="1"/>
              <a:t>draw_circle</a:t>
            </a:r>
            <a:r>
              <a:rPr lang="en-US" dirty="0"/>
              <a:t>'</a:t>
            </a:r>
          </a:p>
          <a:p>
            <a:r>
              <a:rPr lang="en-US" dirty="0"/>
              <a:t>cv2.setMouseCallback('Image mouse', </a:t>
            </a:r>
            <a:r>
              <a:rPr lang="en-US" dirty="0" err="1"/>
              <a:t>draw_circle</a:t>
            </a:r>
            <a:r>
              <a:rPr lang="en-US" dirty="0"/>
              <a:t>)</a:t>
            </a:r>
          </a:p>
          <a:p>
            <a:r>
              <a:rPr lang="en-US" dirty="0"/>
              <a:t>In summary, when a left double-click is performed, a filled magenta circle is drawn centered at the (x, y) position of the performed double-click. The full code for this example can be seen in the mouse_drawing.py script.</a:t>
            </a:r>
          </a:p>
        </p:txBody>
      </p:sp>
    </p:spTree>
    <p:extLst>
      <p:ext uri="{BB962C8B-B14F-4D97-AF65-F5344CB8AC3E}">
        <p14:creationId xmlns:p14="http://schemas.microsoft.com/office/powerpoint/2010/main" val="2598263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both text and </a:t>
            </a:r>
            <a:r>
              <a:rPr lang="en-US" b="1" dirty="0" smtClean="0"/>
              <a:t>shapes</a:t>
            </a:r>
            <a:endParaRPr lang="en-US" dirty="0"/>
          </a:p>
        </p:txBody>
      </p:sp>
      <p:sp>
        <p:nvSpPr>
          <p:cNvPr id="3" name="Content Placeholder 2"/>
          <p:cNvSpPr>
            <a:spLocks noGrp="1"/>
          </p:cNvSpPr>
          <p:nvPr>
            <p:ph idx="1"/>
          </p:nvPr>
        </p:nvSpPr>
        <p:spPr/>
        <p:txBody>
          <a:bodyPr/>
          <a:lstStyle/>
          <a:p>
            <a:r>
              <a:rPr lang="en-US" dirty="0" smtClean="0"/>
              <a:t>In </a:t>
            </a:r>
            <a:r>
              <a:rPr lang="en-US" dirty="0"/>
              <a:t>this example, we are combining both mouse events and drawing text. In this sense, some text is rendered to show how to use the mouse events to perform specific actions. To better understand this example, in the next screenshot you can see the rendered text:</a:t>
            </a:r>
          </a:p>
          <a:p>
            <a:r>
              <a:rPr lang="en-US" dirty="0"/>
              <a:t/>
            </a:r>
            <a:br>
              <a:rPr lang="en-US" dirty="0"/>
            </a:br>
            <a:endParaRPr lang="en-US" dirty="0"/>
          </a:p>
        </p:txBody>
      </p:sp>
    </p:spTree>
    <p:extLst>
      <p:ext uri="{BB962C8B-B14F-4D97-AF65-F5344CB8AC3E}">
        <p14:creationId xmlns:p14="http://schemas.microsoft.com/office/powerpoint/2010/main" val="18866931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both text and shapes</a:t>
            </a:r>
            <a:endParaRPr lang="en-US" dirty="0"/>
          </a:p>
        </p:txBody>
      </p:sp>
      <p:pic>
        <p:nvPicPr>
          <p:cNvPr id="4" name="Content Placeholder 3"/>
          <p:cNvPicPr>
            <a:picLocks noGrp="1" noChangeAspect="1"/>
          </p:cNvPicPr>
          <p:nvPr>
            <p:ph idx="1"/>
          </p:nvPr>
        </p:nvPicPr>
        <p:blipFill>
          <a:blip r:embed="rId2"/>
          <a:stretch>
            <a:fillRect/>
          </a:stretch>
        </p:blipFill>
        <p:spPr>
          <a:xfrm>
            <a:off x="4034599" y="1825625"/>
            <a:ext cx="4122801" cy="4351338"/>
          </a:xfrm>
          <a:prstGeom prst="rect">
            <a:avLst/>
          </a:prstGeom>
        </p:spPr>
      </p:pic>
    </p:spTree>
    <p:extLst>
      <p:ext uri="{BB962C8B-B14F-4D97-AF65-F5344CB8AC3E}">
        <p14:creationId xmlns:p14="http://schemas.microsoft.com/office/powerpoint/2010/main" val="3384111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both text and shapes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You can do the following:</a:t>
            </a:r>
          </a:p>
          <a:p>
            <a:endParaRPr lang="en-US" dirty="0"/>
          </a:p>
          <a:p>
            <a:r>
              <a:rPr lang="en-US" dirty="0"/>
              <a:t>Add a circle using the double left-click</a:t>
            </a:r>
          </a:p>
          <a:p>
            <a:r>
              <a:rPr lang="en-US" dirty="0"/>
              <a:t>Delete the last added circle using a simple left-click</a:t>
            </a:r>
          </a:p>
          <a:p>
            <a:r>
              <a:rPr lang="en-US" dirty="0"/>
              <a:t>Delete all circles using the double right-click</a:t>
            </a:r>
          </a:p>
          <a:p>
            <a:pPr marL="0" indent="0">
              <a:buNone/>
            </a:pPr>
            <a:r>
              <a:rPr lang="en-US" dirty="0"/>
              <a:t>To perform this functionality, we create a list called circles, where we maintain the current circles selected by the user. Additionally, we also create a backup image with the rendered text. When a mouse event is produced, we add or delete the circles from the circles list. Afterward, when drawing, we draw only the current circles from the list. So, for example, when the user performs a simple right-click, the last added circle is deleted from the list. The full code is provided in the mouse_drawing_circles_and_text.py script.</a:t>
            </a:r>
          </a:p>
        </p:txBody>
      </p:sp>
    </p:spTree>
    <p:extLst>
      <p:ext uri="{BB962C8B-B14F-4D97-AF65-F5344CB8AC3E}">
        <p14:creationId xmlns:p14="http://schemas.microsoft.com/office/powerpoint/2010/main" val="41148626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Event handling with </a:t>
            </a:r>
            <a:r>
              <a:rPr lang="en-US" b="1" dirty="0" err="1" smtClean="0"/>
              <a:t>Matplotlib</a:t>
            </a:r>
            <a:endParaRPr lang="en-US" dirty="0"/>
          </a:p>
        </p:txBody>
      </p:sp>
      <p:sp>
        <p:nvSpPr>
          <p:cNvPr id="3" name="Content Placeholder 2"/>
          <p:cNvSpPr>
            <a:spLocks noGrp="1"/>
          </p:cNvSpPr>
          <p:nvPr>
            <p:ph idx="1"/>
          </p:nvPr>
        </p:nvSpPr>
        <p:spPr/>
        <p:txBody>
          <a:bodyPr>
            <a:normAutofit fontScale="70000" lnSpcReduction="20000"/>
          </a:bodyPr>
          <a:lstStyle/>
          <a:p>
            <a:r>
              <a:rPr lang="en-US" dirty="0"/>
              <a:t>You can see in the previous example that we have not used </a:t>
            </a:r>
            <a:r>
              <a:rPr lang="en-US" dirty="0" err="1"/>
              <a:t>Matplotlib</a:t>
            </a:r>
            <a:r>
              <a:rPr lang="en-US" dirty="0"/>
              <a:t> to show the image. This is because </a:t>
            </a:r>
            <a:r>
              <a:rPr lang="en-US" dirty="0" err="1"/>
              <a:t>Matplotlib</a:t>
            </a:r>
            <a:r>
              <a:rPr lang="en-US" dirty="0"/>
              <a:t> can also deal with event handling and picking. Therefore, you can use </a:t>
            </a:r>
            <a:r>
              <a:rPr lang="en-US" dirty="0" err="1"/>
              <a:t>Matplotlib</a:t>
            </a:r>
            <a:r>
              <a:rPr lang="en-US" dirty="0"/>
              <a:t> capabilities to capture mouse events. There are more events that we can connect with </a:t>
            </a:r>
            <a:r>
              <a:rPr lang="en-US" dirty="0" err="1"/>
              <a:t>Matplotlib</a:t>
            </a:r>
            <a:r>
              <a:rPr lang="en-US" dirty="0"/>
              <a:t> (https://matplotlib.org/users/event_handling.html). For example, in connection with the mouse, we can connect with the following events—</a:t>
            </a:r>
            <a:r>
              <a:rPr lang="en-US" dirty="0" err="1"/>
              <a:t>button_press_event</a:t>
            </a:r>
            <a:r>
              <a:rPr lang="en-US" dirty="0"/>
              <a:t>, </a:t>
            </a:r>
            <a:r>
              <a:rPr lang="en-US" dirty="0" err="1"/>
              <a:t>button_release_event</a:t>
            </a:r>
            <a:r>
              <a:rPr lang="en-US" dirty="0"/>
              <a:t>, </a:t>
            </a:r>
            <a:r>
              <a:rPr lang="en-US" dirty="0" err="1"/>
              <a:t>motion_notify_event</a:t>
            </a:r>
            <a:r>
              <a:rPr lang="en-US" dirty="0"/>
              <a:t>, and </a:t>
            </a:r>
            <a:r>
              <a:rPr lang="en-US" dirty="0" err="1"/>
              <a:t>scroll_event</a:t>
            </a:r>
            <a:r>
              <a:rPr lang="en-US" dirty="0"/>
              <a:t>. </a:t>
            </a:r>
          </a:p>
          <a:p>
            <a:endParaRPr lang="en-US" dirty="0"/>
          </a:p>
          <a:p>
            <a:endParaRPr lang="en-US" dirty="0"/>
          </a:p>
          <a:p>
            <a:r>
              <a:rPr lang="en-US" dirty="0"/>
              <a:t>We are going to show a simple example in order to render a circle when a mouse click is performed connecting with the </a:t>
            </a:r>
            <a:r>
              <a:rPr lang="en-US" dirty="0" err="1"/>
              <a:t>button_press_event</a:t>
            </a:r>
            <a:r>
              <a:rPr lang="en-US" dirty="0"/>
              <a:t> event:</a:t>
            </a:r>
          </a:p>
          <a:p>
            <a:endParaRPr lang="en-US" dirty="0"/>
          </a:p>
          <a:p>
            <a:r>
              <a:rPr lang="en-US" dirty="0"/>
              <a:t># '</a:t>
            </a:r>
            <a:r>
              <a:rPr lang="en-US" dirty="0" err="1"/>
              <a:t>button_press_event</a:t>
            </a:r>
            <a:r>
              <a:rPr lang="en-US" dirty="0"/>
              <a:t>' is a </a:t>
            </a:r>
            <a:r>
              <a:rPr lang="en-US" dirty="0" err="1"/>
              <a:t>MouseEvent</a:t>
            </a:r>
            <a:r>
              <a:rPr lang="en-US" dirty="0"/>
              <a:t> where a mouse </a:t>
            </a:r>
            <a:r>
              <a:rPr lang="en-US" dirty="0" err="1"/>
              <a:t>botton</a:t>
            </a:r>
            <a:r>
              <a:rPr lang="en-US" dirty="0"/>
              <a:t> is click (pressed)</a:t>
            </a:r>
          </a:p>
          <a:p>
            <a:r>
              <a:rPr lang="en-US" dirty="0"/>
              <a:t># When this event happens the function '</a:t>
            </a:r>
            <a:r>
              <a:rPr lang="en-US" dirty="0" err="1"/>
              <a:t>click_mouse_event</a:t>
            </a:r>
            <a:r>
              <a:rPr lang="en-US" dirty="0"/>
              <a:t>' is called:</a:t>
            </a:r>
          </a:p>
          <a:p>
            <a:r>
              <a:rPr lang="en-US" dirty="0" err="1"/>
              <a:t>figure.canvas.mpl_connect</a:t>
            </a:r>
            <a:r>
              <a:rPr lang="en-US" dirty="0"/>
              <a:t>('</a:t>
            </a:r>
            <a:r>
              <a:rPr lang="en-US" dirty="0" err="1"/>
              <a:t>button_press_event</a:t>
            </a:r>
            <a:r>
              <a:rPr lang="en-US" dirty="0"/>
              <a:t>', </a:t>
            </a:r>
            <a:r>
              <a:rPr lang="en-US" dirty="0" err="1"/>
              <a:t>click_mouse_event</a:t>
            </a:r>
            <a:r>
              <a:rPr lang="en-US" dirty="0"/>
              <a:t>)</a:t>
            </a:r>
          </a:p>
        </p:txBody>
      </p:sp>
    </p:spTree>
    <p:extLst>
      <p:ext uri="{BB962C8B-B14F-4D97-AF65-F5344CB8AC3E}">
        <p14:creationId xmlns:p14="http://schemas.microsoft.com/office/powerpoint/2010/main" val="35735775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Event handling with </a:t>
            </a:r>
            <a:r>
              <a:rPr lang="en-US" b="1" dirty="0" err="1"/>
              <a:t>Matplotlib</a:t>
            </a:r>
            <a:endParaRPr lang="en-US" dirty="0"/>
          </a:p>
        </p:txBody>
      </p:sp>
      <p:sp>
        <p:nvSpPr>
          <p:cNvPr id="3" name="Content Placeholder 2"/>
          <p:cNvSpPr>
            <a:spLocks noGrp="1"/>
          </p:cNvSpPr>
          <p:nvPr>
            <p:ph idx="1"/>
          </p:nvPr>
        </p:nvSpPr>
        <p:spPr/>
        <p:txBody>
          <a:bodyPr>
            <a:normAutofit fontScale="70000" lnSpcReduction="20000"/>
          </a:bodyPr>
          <a:lstStyle/>
          <a:p>
            <a:r>
              <a:rPr lang="en-US" dirty="0"/>
              <a:t>We have also to define the event listener for the </a:t>
            </a:r>
            <a:r>
              <a:rPr lang="en-US" dirty="0" err="1"/>
              <a:t>button_press_event</a:t>
            </a:r>
            <a:r>
              <a:rPr lang="en-US" dirty="0"/>
              <a:t> event:</a:t>
            </a:r>
          </a:p>
          <a:p>
            <a:endParaRPr lang="en-US" dirty="0"/>
          </a:p>
          <a:p>
            <a:r>
              <a:rPr lang="en-US" dirty="0"/>
              <a:t># We define the event listener for the '</a:t>
            </a:r>
            <a:r>
              <a:rPr lang="en-US" dirty="0" err="1"/>
              <a:t>button_press_event</a:t>
            </a:r>
            <a:r>
              <a:rPr lang="en-US" dirty="0"/>
              <a:t>':</a:t>
            </a:r>
          </a:p>
          <a:p>
            <a:r>
              <a:rPr lang="en-US" dirty="0" err="1"/>
              <a:t>def</a:t>
            </a:r>
            <a:r>
              <a:rPr lang="en-US" dirty="0"/>
              <a:t> </a:t>
            </a:r>
            <a:r>
              <a:rPr lang="en-US" dirty="0" err="1"/>
              <a:t>click_mouse_event</a:t>
            </a:r>
            <a:r>
              <a:rPr lang="en-US" dirty="0"/>
              <a:t>(event):</a:t>
            </a:r>
          </a:p>
          <a:p>
            <a:r>
              <a:rPr lang="en-US" dirty="0"/>
              <a:t>    # (</a:t>
            </a:r>
            <a:r>
              <a:rPr lang="en-US" dirty="0" err="1"/>
              <a:t>event.xdata</a:t>
            </a:r>
            <a:r>
              <a:rPr lang="en-US" dirty="0"/>
              <a:t>, </a:t>
            </a:r>
            <a:r>
              <a:rPr lang="en-US" dirty="0" err="1"/>
              <a:t>event.ydata</a:t>
            </a:r>
            <a:r>
              <a:rPr lang="en-US" dirty="0"/>
              <a:t>) contains the float coordinates of the mouse click event:</a:t>
            </a:r>
          </a:p>
          <a:p>
            <a:r>
              <a:rPr lang="en-US" dirty="0"/>
              <a:t>    cv2.circle(image, (</a:t>
            </a:r>
            <a:r>
              <a:rPr lang="en-US" dirty="0" err="1"/>
              <a:t>int</a:t>
            </a:r>
            <a:r>
              <a:rPr lang="en-US" dirty="0"/>
              <a:t>(round(</a:t>
            </a:r>
            <a:r>
              <a:rPr lang="en-US" dirty="0" err="1"/>
              <a:t>event.xdata</a:t>
            </a:r>
            <a:r>
              <a:rPr lang="en-US" dirty="0"/>
              <a:t>)), </a:t>
            </a:r>
            <a:r>
              <a:rPr lang="en-US" dirty="0" err="1"/>
              <a:t>int</a:t>
            </a:r>
            <a:r>
              <a:rPr lang="en-US" dirty="0"/>
              <a:t>(round(</a:t>
            </a:r>
            <a:r>
              <a:rPr lang="en-US" dirty="0" err="1"/>
              <a:t>event.ydata</a:t>
            </a:r>
            <a:r>
              <a:rPr lang="en-US" dirty="0"/>
              <a:t>))), 30, colors['blue'], cv2.FILLED)</a:t>
            </a:r>
          </a:p>
          <a:p>
            <a:r>
              <a:rPr lang="en-US" dirty="0"/>
              <a:t>    # Call '</a:t>
            </a:r>
            <a:r>
              <a:rPr lang="en-US" dirty="0" err="1"/>
              <a:t>update_image</a:t>
            </a:r>
            <a:r>
              <a:rPr lang="en-US" dirty="0"/>
              <a:t>()' method to update the Figure:</a:t>
            </a:r>
          </a:p>
          <a:p>
            <a:r>
              <a:rPr lang="en-US" dirty="0"/>
              <a:t>    </a:t>
            </a:r>
            <a:r>
              <a:rPr lang="en-US" dirty="0" err="1"/>
              <a:t>update_img_with_matplotlib</a:t>
            </a:r>
            <a:r>
              <a:rPr lang="en-US" dirty="0"/>
              <a:t>()</a:t>
            </a:r>
          </a:p>
          <a:p>
            <a:r>
              <a:rPr lang="en-US" dirty="0"/>
              <a:t>Therefore, when a mouse click is performed, a blue circle is shown. It should be noted that we have coded the </a:t>
            </a:r>
            <a:r>
              <a:rPr lang="en-US" dirty="0" err="1"/>
              <a:t>update_img_with_matplotlib</a:t>
            </a:r>
            <a:r>
              <a:rPr lang="en-US" dirty="0"/>
              <a:t>() function. In the previous examples, we have used </a:t>
            </a:r>
            <a:r>
              <a:rPr lang="en-US" dirty="0" err="1"/>
              <a:t>show_with_matplotlib</a:t>
            </a:r>
            <a:r>
              <a:rPr lang="en-US" dirty="0"/>
              <a:t>(). The </a:t>
            </a:r>
            <a:r>
              <a:rPr lang="en-US" dirty="0" err="1"/>
              <a:t>show_with_matplotlib</a:t>
            </a:r>
            <a:r>
              <a:rPr lang="en-US" dirty="0"/>
              <a:t>() function is used to display an image using </a:t>
            </a:r>
            <a:r>
              <a:rPr lang="en-US" dirty="0" err="1"/>
              <a:t>Matplotlib</a:t>
            </a:r>
            <a:r>
              <a:rPr lang="en-US" dirty="0"/>
              <a:t>, while </a:t>
            </a:r>
            <a:r>
              <a:rPr lang="en-US" dirty="0" err="1"/>
              <a:t>update_img_with_matplotlib</a:t>
            </a:r>
            <a:r>
              <a:rPr lang="en-US" dirty="0"/>
              <a:t>() is used to update an existing figure. The full code for this example can be seen in the matplotlib_mouse_events.py script.</a:t>
            </a:r>
          </a:p>
        </p:txBody>
      </p:sp>
    </p:spTree>
    <p:extLst>
      <p:ext uri="{BB962C8B-B14F-4D97-AF65-F5344CB8AC3E}">
        <p14:creationId xmlns:p14="http://schemas.microsoft.com/office/powerpoint/2010/main" val="1239851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drawing</a:t>
            </a:r>
          </a:p>
        </p:txBody>
      </p:sp>
      <p:sp>
        <p:nvSpPr>
          <p:cNvPr id="3" name="Content Placeholder 2"/>
          <p:cNvSpPr>
            <a:spLocks noGrp="1"/>
          </p:cNvSpPr>
          <p:nvPr>
            <p:ph idx="1"/>
          </p:nvPr>
        </p:nvSpPr>
        <p:spPr/>
        <p:txBody>
          <a:bodyPr/>
          <a:lstStyle/>
          <a:p>
            <a:r>
              <a:rPr lang="en-US" dirty="0"/>
              <a:t>In this section, we are going to see how to combine some of the aforementioned functions to draw basic shapes in </a:t>
            </a:r>
            <a:r>
              <a:rPr lang="en-US" dirty="0" err="1"/>
              <a:t>OpenCV</a:t>
            </a:r>
            <a:r>
              <a:rPr lang="en-US" dirty="0"/>
              <a:t> (for example, lines, circles, rectangles, and text, among others) to render a more advanced drawing. To put all these pieces together, we have built an analog clock to show you the current time (hour, minutes, and seconds). For this, two scripts are coded:</a:t>
            </a:r>
          </a:p>
          <a:p>
            <a:endParaRPr lang="en-US" dirty="0"/>
          </a:p>
          <a:p>
            <a:r>
              <a:rPr lang="en-US" dirty="0"/>
              <a:t>analog_clock_values.py</a:t>
            </a:r>
          </a:p>
          <a:p>
            <a:r>
              <a:rPr lang="en-US" dirty="0"/>
              <a:t>analog_clock_opencv.py</a:t>
            </a:r>
          </a:p>
        </p:txBody>
      </p:sp>
    </p:spTree>
    <p:extLst>
      <p:ext uri="{BB962C8B-B14F-4D97-AF65-F5344CB8AC3E}">
        <p14:creationId xmlns:p14="http://schemas.microsoft.com/office/powerpoint/2010/main" val="33561153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drawing</a:t>
            </a:r>
          </a:p>
        </p:txBody>
      </p:sp>
      <p:sp>
        <p:nvSpPr>
          <p:cNvPr id="3" name="Content Placeholder 2"/>
          <p:cNvSpPr>
            <a:spLocks noGrp="1"/>
          </p:cNvSpPr>
          <p:nvPr>
            <p:ph idx="1"/>
          </p:nvPr>
        </p:nvSpPr>
        <p:spPr/>
        <p:txBody>
          <a:bodyPr>
            <a:normAutofit fontScale="70000" lnSpcReduction="20000"/>
          </a:bodyPr>
          <a:lstStyle/>
          <a:p>
            <a:endParaRPr lang="en-US" dirty="0"/>
          </a:p>
          <a:p>
            <a:r>
              <a:rPr lang="en-US" dirty="0"/>
              <a:t>The analog_clock_opencv.py script draws an analog clock, using </a:t>
            </a:r>
            <a:r>
              <a:rPr lang="en-US" dirty="0" err="1"/>
              <a:t>cv.line</a:t>
            </a:r>
            <a:r>
              <a:rPr lang="en-US" dirty="0"/>
              <a:t>(), </a:t>
            </a:r>
            <a:r>
              <a:rPr lang="en-US" dirty="0" err="1"/>
              <a:t>cv.circle</a:t>
            </a:r>
            <a:r>
              <a:rPr lang="en-US" dirty="0"/>
              <a:t>(), </a:t>
            </a:r>
            <a:r>
              <a:rPr lang="en-US" dirty="0" err="1"/>
              <a:t>cv.rectangle</a:t>
            </a:r>
            <a:r>
              <a:rPr lang="en-US" dirty="0"/>
              <a:t>(), and cv2.putText(). In this script, we first draw the static drawing. In this sense, you can see that there are two arrays containing fixed coordinates:</a:t>
            </a:r>
          </a:p>
          <a:p>
            <a:endParaRPr lang="en-US" dirty="0"/>
          </a:p>
          <a:p>
            <a:r>
              <a:rPr lang="en-US" dirty="0" err="1"/>
              <a:t>hours_orig</a:t>
            </a:r>
            <a:r>
              <a:rPr lang="en-US" dirty="0"/>
              <a:t> = </a:t>
            </a:r>
            <a:r>
              <a:rPr lang="en-US" dirty="0" err="1"/>
              <a:t>np.array</a:t>
            </a:r>
            <a:r>
              <a:rPr lang="en-US" dirty="0"/>
              <a:t>(</a:t>
            </a:r>
          </a:p>
          <a:p>
            <a:r>
              <a:rPr lang="en-US" dirty="0"/>
              <a:t>    [(620, 320), (580, 470), (470, 580), (320, 620), (170, 580), (60, 470), (20, 320), (60, 170), (169, 61), (319, 20),</a:t>
            </a:r>
          </a:p>
          <a:p>
            <a:r>
              <a:rPr lang="en-US" dirty="0"/>
              <a:t>     (469, 60), (579, 169)])</a:t>
            </a:r>
          </a:p>
          <a:p>
            <a:endParaRPr lang="en-US" dirty="0"/>
          </a:p>
          <a:p>
            <a:r>
              <a:rPr lang="en-US" dirty="0" err="1"/>
              <a:t>hours_dest</a:t>
            </a:r>
            <a:r>
              <a:rPr lang="en-US" dirty="0"/>
              <a:t> = </a:t>
            </a:r>
            <a:r>
              <a:rPr lang="en-US" dirty="0" err="1"/>
              <a:t>np.array</a:t>
            </a:r>
            <a:r>
              <a:rPr lang="en-US" dirty="0"/>
              <a:t>(</a:t>
            </a:r>
          </a:p>
          <a:p>
            <a:r>
              <a:rPr lang="en-US" dirty="0"/>
              <a:t>    [(600, 320), (563, 460), (460, 562), (320, 600), (180, 563), (78, 460), (40, 320), (77, 180), (179, 78), (319, 40),</a:t>
            </a:r>
          </a:p>
          <a:p>
            <a:r>
              <a:rPr lang="en-US" dirty="0"/>
              <a:t>     (459, 77), (562, 179)])</a:t>
            </a:r>
          </a:p>
          <a:p>
            <a:endParaRPr lang="en-US" dirty="0"/>
          </a:p>
        </p:txBody>
      </p:sp>
    </p:spTree>
    <p:extLst>
      <p:ext uri="{BB962C8B-B14F-4D97-AF65-F5344CB8AC3E}">
        <p14:creationId xmlns:p14="http://schemas.microsoft.com/office/powerpoint/2010/main" val="3222082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drawing</a:t>
            </a:r>
          </a:p>
        </p:txBody>
      </p:sp>
      <p:sp>
        <p:nvSpPr>
          <p:cNvPr id="3" name="Content Placeholder 2"/>
          <p:cNvSpPr>
            <a:spLocks noGrp="1"/>
          </p:cNvSpPr>
          <p:nvPr>
            <p:ph idx="1"/>
          </p:nvPr>
        </p:nvSpPr>
        <p:spPr/>
        <p:txBody>
          <a:bodyPr>
            <a:normAutofit fontScale="47500" lnSpcReduction="20000"/>
          </a:bodyPr>
          <a:lstStyle/>
          <a:p>
            <a:r>
              <a:rPr lang="en-US" dirty="0"/>
              <a:t>These arrays are necessary to render the hour markings, as they define the origin and destiny of the lines for every hour of the clock. So, these markings are drawn as follows:</a:t>
            </a:r>
          </a:p>
          <a:p>
            <a:endParaRPr lang="en-US" dirty="0"/>
          </a:p>
          <a:p>
            <a:r>
              <a:rPr lang="en-US" dirty="0"/>
              <a:t>for </a:t>
            </a:r>
            <a:r>
              <a:rPr lang="en-US" dirty="0" err="1"/>
              <a:t>i</a:t>
            </a:r>
            <a:r>
              <a:rPr lang="en-US" dirty="0"/>
              <a:t> in range(0, 12):</a:t>
            </a:r>
          </a:p>
          <a:p>
            <a:r>
              <a:rPr lang="en-US" dirty="0"/>
              <a:t>    cv2.line(image, </a:t>
            </a:r>
            <a:r>
              <a:rPr lang="en-US" dirty="0" err="1"/>
              <a:t>array_to_tuple</a:t>
            </a:r>
            <a:r>
              <a:rPr lang="en-US" dirty="0"/>
              <a:t>(</a:t>
            </a:r>
            <a:r>
              <a:rPr lang="en-US" dirty="0" err="1"/>
              <a:t>hours_orig</a:t>
            </a:r>
            <a:r>
              <a:rPr lang="en-US" dirty="0"/>
              <a:t>[</a:t>
            </a:r>
            <a:r>
              <a:rPr lang="en-US" dirty="0" err="1"/>
              <a:t>i</a:t>
            </a:r>
            <a:r>
              <a:rPr lang="en-US" dirty="0"/>
              <a:t>]), </a:t>
            </a:r>
            <a:r>
              <a:rPr lang="en-US" dirty="0" err="1"/>
              <a:t>array_to_tuple</a:t>
            </a:r>
            <a:r>
              <a:rPr lang="en-US" dirty="0"/>
              <a:t>(</a:t>
            </a:r>
            <a:r>
              <a:rPr lang="en-US" dirty="0" err="1"/>
              <a:t>hours_dest</a:t>
            </a:r>
            <a:r>
              <a:rPr lang="en-US" dirty="0"/>
              <a:t>[</a:t>
            </a:r>
            <a:r>
              <a:rPr lang="en-US" dirty="0" err="1"/>
              <a:t>i</a:t>
            </a:r>
            <a:r>
              <a:rPr lang="en-US" dirty="0"/>
              <a:t>]), colors['black'], 3)</a:t>
            </a:r>
          </a:p>
          <a:p>
            <a:r>
              <a:rPr lang="en-US" dirty="0"/>
              <a:t>Additionally, a big circle is drawn, corresponding to the shape of the analog clock:</a:t>
            </a:r>
          </a:p>
          <a:p>
            <a:endParaRPr lang="en-US" dirty="0"/>
          </a:p>
          <a:p>
            <a:r>
              <a:rPr lang="en-US" dirty="0"/>
              <a:t>cv2.circle(image, (320, 320), 310, colors['</a:t>
            </a:r>
            <a:r>
              <a:rPr lang="en-US" dirty="0" err="1"/>
              <a:t>dark_gray</a:t>
            </a:r>
            <a:r>
              <a:rPr lang="en-US" dirty="0"/>
              <a:t>'], 8)</a:t>
            </a:r>
          </a:p>
          <a:p>
            <a:r>
              <a:rPr lang="en-US" dirty="0"/>
              <a:t>Finally, we draw the rectangle containing the Mastering </a:t>
            </a:r>
            <a:r>
              <a:rPr lang="en-US" dirty="0" err="1"/>
              <a:t>OpenCV</a:t>
            </a:r>
            <a:r>
              <a:rPr lang="en-US" dirty="0"/>
              <a:t> 4 with Python text, which will be rendered inside the clock:</a:t>
            </a:r>
          </a:p>
          <a:p>
            <a:endParaRPr lang="en-US" dirty="0"/>
          </a:p>
          <a:p>
            <a:r>
              <a:rPr lang="en-US" dirty="0"/>
              <a:t>cv2.rectangle(image, (150, 175), (490, 270), colors['</a:t>
            </a:r>
            <a:r>
              <a:rPr lang="en-US" dirty="0" err="1"/>
              <a:t>dark_gray</a:t>
            </a:r>
            <a:r>
              <a:rPr lang="en-US" dirty="0"/>
              <a:t>'], -1)</a:t>
            </a:r>
          </a:p>
          <a:p>
            <a:r>
              <a:rPr lang="en-US" dirty="0"/>
              <a:t>cv2.putText(image, "Mastering </a:t>
            </a:r>
            <a:r>
              <a:rPr lang="en-US" dirty="0" err="1"/>
              <a:t>OpenCV</a:t>
            </a:r>
            <a:r>
              <a:rPr lang="en-US" dirty="0"/>
              <a:t> 4", (150, 200), 1, 2, colors['</a:t>
            </a:r>
            <a:r>
              <a:rPr lang="en-US" dirty="0" err="1"/>
              <a:t>light_gray</a:t>
            </a:r>
            <a:r>
              <a:rPr lang="en-US" dirty="0"/>
              <a:t>'], 1, cv2.LINE_AA)</a:t>
            </a:r>
          </a:p>
          <a:p>
            <a:r>
              <a:rPr lang="en-US" dirty="0"/>
              <a:t>cv2.putText(image, "with Python", (210, 250), 1, 2, colors['</a:t>
            </a:r>
            <a:r>
              <a:rPr lang="en-US" dirty="0" err="1"/>
              <a:t>light_gray</a:t>
            </a:r>
            <a:r>
              <a:rPr lang="en-US" dirty="0"/>
              <a:t>'], 1, cv2.LINE_AA)</a:t>
            </a:r>
          </a:p>
          <a:p>
            <a:r>
              <a:rPr lang="en-US" dirty="0"/>
              <a:t>Once this static information is drawn in the image, we copy it to the </a:t>
            </a:r>
            <a:r>
              <a:rPr lang="en-US" dirty="0" err="1"/>
              <a:t>image_original</a:t>
            </a:r>
            <a:r>
              <a:rPr lang="en-US" dirty="0"/>
              <a:t> image:</a:t>
            </a:r>
          </a:p>
          <a:p>
            <a:endParaRPr lang="en-US" dirty="0"/>
          </a:p>
          <a:p>
            <a:r>
              <a:rPr lang="en-US" dirty="0" err="1"/>
              <a:t>image_original</a:t>
            </a:r>
            <a:r>
              <a:rPr lang="en-US" dirty="0"/>
              <a:t> = </a:t>
            </a:r>
            <a:r>
              <a:rPr lang="en-US" dirty="0" err="1"/>
              <a:t>image.copy</a:t>
            </a:r>
            <a:r>
              <a:rPr lang="en-US" dirty="0"/>
              <a:t>()</a:t>
            </a:r>
          </a:p>
        </p:txBody>
      </p:sp>
    </p:spTree>
    <p:extLst>
      <p:ext uri="{BB962C8B-B14F-4D97-AF65-F5344CB8AC3E}">
        <p14:creationId xmlns:p14="http://schemas.microsoft.com/office/powerpoint/2010/main" val="21692050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drawing</a:t>
            </a:r>
          </a:p>
        </p:txBody>
      </p:sp>
      <p:sp>
        <p:nvSpPr>
          <p:cNvPr id="3" name="Content Placeholder 2"/>
          <p:cNvSpPr>
            <a:spLocks noGrp="1"/>
          </p:cNvSpPr>
          <p:nvPr>
            <p:ph idx="1"/>
          </p:nvPr>
        </p:nvSpPr>
        <p:spPr/>
        <p:txBody>
          <a:bodyPr>
            <a:normAutofit fontScale="47500" lnSpcReduction="20000"/>
          </a:bodyPr>
          <a:lstStyle/>
          <a:p>
            <a:r>
              <a:rPr lang="en-US" dirty="0"/>
              <a:t>To draw the dynamic information, several steps are performed:</a:t>
            </a:r>
          </a:p>
          <a:p>
            <a:endParaRPr lang="en-US" dirty="0"/>
          </a:p>
          <a:p>
            <a:r>
              <a:rPr lang="en-US" dirty="0"/>
              <a:t>Get the hour, minute, and second from the current time:</a:t>
            </a:r>
          </a:p>
          <a:p>
            <a:r>
              <a:rPr lang="en-US" dirty="0"/>
              <a:t># Get current date:</a:t>
            </a:r>
          </a:p>
          <a:p>
            <a:r>
              <a:rPr lang="en-US" dirty="0" err="1"/>
              <a:t>date_time_now</a:t>
            </a:r>
            <a:r>
              <a:rPr lang="en-US" dirty="0"/>
              <a:t> = </a:t>
            </a:r>
            <a:r>
              <a:rPr lang="en-US" dirty="0" err="1"/>
              <a:t>datetime.datetime.now</a:t>
            </a:r>
            <a:r>
              <a:rPr lang="en-US" dirty="0"/>
              <a:t>()</a:t>
            </a:r>
          </a:p>
          <a:p>
            <a:r>
              <a:rPr lang="en-US" dirty="0"/>
              <a:t># Get current time from the date:</a:t>
            </a:r>
          </a:p>
          <a:p>
            <a:r>
              <a:rPr lang="en-US" dirty="0" err="1"/>
              <a:t>time_now</a:t>
            </a:r>
            <a:r>
              <a:rPr lang="en-US" dirty="0"/>
              <a:t> = </a:t>
            </a:r>
            <a:r>
              <a:rPr lang="en-US" dirty="0" err="1"/>
              <a:t>date_time_now.time</a:t>
            </a:r>
            <a:r>
              <a:rPr lang="en-US" dirty="0"/>
              <a:t>()</a:t>
            </a:r>
          </a:p>
          <a:p>
            <a:r>
              <a:rPr lang="en-US" dirty="0"/>
              <a:t># Get current hour-minute-second from the time:</a:t>
            </a:r>
          </a:p>
          <a:p>
            <a:r>
              <a:rPr lang="en-US" dirty="0"/>
              <a:t>hour = </a:t>
            </a:r>
            <a:r>
              <a:rPr lang="en-US" dirty="0" err="1"/>
              <a:t>math.fmod</a:t>
            </a:r>
            <a:r>
              <a:rPr lang="en-US" dirty="0"/>
              <a:t>(</a:t>
            </a:r>
            <a:r>
              <a:rPr lang="en-US" dirty="0" err="1"/>
              <a:t>time_now.hour</a:t>
            </a:r>
            <a:r>
              <a:rPr lang="en-US" dirty="0"/>
              <a:t>, 12)</a:t>
            </a:r>
          </a:p>
          <a:p>
            <a:r>
              <a:rPr lang="en-US" dirty="0"/>
              <a:t>minute = </a:t>
            </a:r>
            <a:r>
              <a:rPr lang="en-US" dirty="0" err="1"/>
              <a:t>time_now.minute</a:t>
            </a:r>
            <a:endParaRPr lang="en-US" dirty="0"/>
          </a:p>
          <a:p>
            <a:r>
              <a:rPr lang="en-US" dirty="0"/>
              <a:t>second = </a:t>
            </a:r>
            <a:r>
              <a:rPr lang="en-US" dirty="0" err="1"/>
              <a:t>time_now.second</a:t>
            </a:r>
            <a:endParaRPr lang="en-US" dirty="0"/>
          </a:p>
          <a:p>
            <a:r>
              <a:rPr lang="en-US" dirty="0"/>
              <a:t>Transform these values (hour, minute, and second) to angles:</a:t>
            </a:r>
          </a:p>
          <a:p>
            <a:r>
              <a:rPr lang="en-US" dirty="0"/>
              <a:t># Get the hour, minute and second angles:</a:t>
            </a:r>
          </a:p>
          <a:p>
            <a:r>
              <a:rPr lang="en-US" dirty="0" err="1"/>
              <a:t>second_angle</a:t>
            </a:r>
            <a:r>
              <a:rPr lang="en-US" dirty="0"/>
              <a:t> = </a:t>
            </a:r>
            <a:r>
              <a:rPr lang="en-US" dirty="0" err="1"/>
              <a:t>math.fmod</a:t>
            </a:r>
            <a:r>
              <a:rPr lang="en-US" dirty="0"/>
              <a:t>(second * 6 + 270, 360)</a:t>
            </a:r>
          </a:p>
          <a:p>
            <a:r>
              <a:rPr lang="en-US" dirty="0" err="1"/>
              <a:t>minute_angle</a:t>
            </a:r>
            <a:r>
              <a:rPr lang="en-US" dirty="0"/>
              <a:t> = </a:t>
            </a:r>
            <a:r>
              <a:rPr lang="en-US" dirty="0" err="1"/>
              <a:t>math.fmod</a:t>
            </a:r>
            <a:r>
              <a:rPr lang="en-US" dirty="0"/>
              <a:t>(minute * 6 + 270, 360)</a:t>
            </a:r>
          </a:p>
          <a:p>
            <a:r>
              <a:rPr lang="en-US" dirty="0" err="1"/>
              <a:t>hour_angle</a:t>
            </a:r>
            <a:r>
              <a:rPr lang="en-US" dirty="0"/>
              <a:t> = </a:t>
            </a:r>
            <a:r>
              <a:rPr lang="en-US" dirty="0" err="1"/>
              <a:t>math.fmod</a:t>
            </a:r>
            <a:r>
              <a:rPr lang="en-US" dirty="0"/>
              <a:t>((hour*30) + (minute/2) + 270, 360)</a:t>
            </a:r>
          </a:p>
        </p:txBody>
      </p:sp>
    </p:spTree>
    <p:extLst>
      <p:ext uri="{BB962C8B-B14F-4D97-AF65-F5344CB8AC3E}">
        <p14:creationId xmlns:p14="http://schemas.microsoft.com/office/powerpoint/2010/main" val="16328729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drawing</a:t>
            </a:r>
          </a:p>
        </p:txBody>
      </p:sp>
      <p:sp>
        <p:nvSpPr>
          <p:cNvPr id="3" name="Content Placeholder 2"/>
          <p:cNvSpPr>
            <a:spLocks noGrp="1"/>
          </p:cNvSpPr>
          <p:nvPr>
            <p:ph sz="half" idx="1"/>
          </p:nvPr>
        </p:nvSpPr>
        <p:spPr/>
        <p:txBody>
          <a:bodyPr>
            <a:normAutofit fontScale="40000" lnSpcReduction="20000"/>
          </a:bodyPr>
          <a:lstStyle/>
          <a:p>
            <a:r>
              <a:rPr lang="en-US" dirty="0"/>
              <a:t>Draw the lines corresponding to the hour, minute, and second needles:</a:t>
            </a:r>
          </a:p>
          <a:p>
            <a:r>
              <a:rPr lang="en-US" dirty="0"/>
              <a:t># Draw the lines corresponding to the hour, minute and second needles:</a:t>
            </a:r>
          </a:p>
          <a:p>
            <a:r>
              <a:rPr lang="en-US" dirty="0" err="1"/>
              <a:t>second_x</a:t>
            </a:r>
            <a:r>
              <a:rPr lang="en-US" dirty="0"/>
              <a:t> = round(320 + 310 * </a:t>
            </a:r>
            <a:r>
              <a:rPr lang="en-US" dirty="0" err="1"/>
              <a:t>math.cos</a:t>
            </a:r>
            <a:r>
              <a:rPr lang="en-US" dirty="0"/>
              <a:t>(</a:t>
            </a:r>
            <a:r>
              <a:rPr lang="en-US" dirty="0" err="1"/>
              <a:t>second_angle</a:t>
            </a:r>
            <a:r>
              <a:rPr lang="en-US" dirty="0"/>
              <a:t> * 3.14 / 180))</a:t>
            </a:r>
          </a:p>
          <a:p>
            <a:r>
              <a:rPr lang="en-US" dirty="0" err="1"/>
              <a:t>second_y</a:t>
            </a:r>
            <a:r>
              <a:rPr lang="en-US" dirty="0"/>
              <a:t> = round(320 + 310 * </a:t>
            </a:r>
            <a:r>
              <a:rPr lang="en-US" dirty="0" err="1"/>
              <a:t>math.sin</a:t>
            </a:r>
            <a:r>
              <a:rPr lang="en-US" dirty="0"/>
              <a:t>(</a:t>
            </a:r>
            <a:r>
              <a:rPr lang="en-US" dirty="0" err="1"/>
              <a:t>second_angle</a:t>
            </a:r>
            <a:r>
              <a:rPr lang="en-US" dirty="0"/>
              <a:t> * 3.14 / 180))</a:t>
            </a:r>
          </a:p>
          <a:p>
            <a:r>
              <a:rPr lang="en-US" dirty="0"/>
              <a:t>cv2.line(image, (320, 320), (</a:t>
            </a:r>
            <a:r>
              <a:rPr lang="en-US" dirty="0" err="1"/>
              <a:t>second_x</a:t>
            </a:r>
            <a:r>
              <a:rPr lang="en-US" dirty="0"/>
              <a:t>, </a:t>
            </a:r>
            <a:r>
              <a:rPr lang="en-US" dirty="0" err="1"/>
              <a:t>second_y</a:t>
            </a:r>
            <a:r>
              <a:rPr lang="en-US" dirty="0"/>
              <a:t>), colors['blue'], 2)</a:t>
            </a:r>
          </a:p>
          <a:p>
            <a:endParaRPr lang="en-US" dirty="0"/>
          </a:p>
          <a:p>
            <a:r>
              <a:rPr lang="en-US" dirty="0" err="1"/>
              <a:t>minute_x</a:t>
            </a:r>
            <a:r>
              <a:rPr lang="en-US" dirty="0"/>
              <a:t> = round(320 + 260 * </a:t>
            </a:r>
            <a:r>
              <a:rPr lang="en-US" dirty="0" err="1"/>
              <a:t>math.cos</a:t>
            </a:r>
            <a:r>
              <a:rPr lang="en-US" dirty="0"/>
              <a:t>(</a:t>
            </a:r>
            <a:r>
              <a:rPr lang="en-US" dirty="0" err="1"/>
              <a:t>minute_angle</a:t>
            </a:r>
            <a:r>
              <a:rPr lang="en-US" dirty="0"/>
              <a:t> * 3.14 / 180))</a:t>
            </a:r>
          </a:p>
          <a:p>
            <a:r>
              <a:rPr lang="en-US" dirty="0" err="1"/>
              <a:t>minute_y</a:t>
            </a:r>
            <a:r>
              <a:rPr lang="en-US" dirty="0"/>
              <a:t> = round(320 + 260 * </a:t>
            </a:r>
            <a:r>
              <a:rPr lang="en-US" dirty="0" err="1"/>
              <a:t>math.sin</a:t>
            </a:r>
            <a:r>
              <a:rPr lang="en-US" dirty="0"/>
              <a:t>(</a:t>
            </a:r>
            <a:r>
              <a:rPr lang="en-US" dirty="0" err="1"/>
              <a:t>minute_angle</a:t>
            </a:r>
            <a:r>
              <a:rPr lang="en-US" dirty="0"/>
              <a:t> * 3.14 / 180))</a:t>
            </a:r>
          </a:p>
          <a:p>
            <a:r>
              <a:rPr lang="en-US" dirty="0"/>
              <a:t>cv2.line(image, (320, 320), (</a:t>
            </a:r>
            <a:r>
              <a:rPr lang="en-US" dirty="0" err="1"/>
              <a:t>minute_x</a:t>
            </a:r>
            <a:r>
              <a:rPr lang="en-US" dirty="0"/>
              <a:t>, </a:t>
            </a:r>
            <a:r>
              <a:rPr lang="en-US" dirty="0" err="1"/>
              <a:t>minute_y</a:t>
            </a:r>
            <a:r>
              <a:rPr lang="en-US" dirty="0"/>
              <a:t>), colors['blue'], 8)</a:t>
            </a:r>
          </a:p>
          <a:p>
            <a:endParaRPr lang="en-US" dirty="0"/>
          </a:p>
          <a:p>
            <a:r>
              <a:rPr lang="en-US" dirty="0" err="1"/>
              <a:t>hour_x</a:t>
            </a:r>
            <a:r>
              <a:rPr lang="en-US" dirty="0"/>
              <a:t> = round(320 + 220 * </a:t>
            </a:r>
            <a:r>
              <a:rPr lang="en-US" dirty="0" err="1"/>
              <a:t>math.cos</a:t>
            </a:r>
            <a:r>
              <a:rPr lang="en-US" dirty="0"/>
              <a:t>(</a:t>
            </a:r>
            <a:r>
              <a:rPr lang="en-US" dirty="0" err="1"/>
              <a:t>hour_angle</a:t>
            </a:r>
            <a:r>
              <a:rPr lang="en-US" dirty="0"/>
              <a:t> * 3.14 / 180))</a:t>
            </a:r>
          </a:p>
          <a:p>
            <a:r>
              <a:rPr lang="en-US" dirty="0" err="1"/>
              <a:t>hour_y</a:t>
            </a:r>
            <a:r>
              <a:rPr lang="en-US" dirty="0"/>
              <a:t> = round(320 + 220 * </a:t>
            </a:r>
            <a:r>
              <a:rPr lang="en-US" dirty="0" err="1"/>
              <a:t>math.sin</a:t>
            </a:r>
            <a:r>
              <a:rPr lang="en-US" dirty="0"/>
              <a:t>(</a:t>
            </a:r>
            <a:r>
              <a:rPr lang="en-US" dirty="0" err="1"/>
              <a:t>hour_angle</a:t>
            </a:r>
            <a:r>
              <a:rPr lang="en-US" dirty="0"/>
              <a:t> * 3.14 / 180))</a:t>
            </a:r>
          </a:p>
          <a:p>
            <a:r>
              <a:rPr lang="en-US" dirty="0"/>
              <a:t>cv2.line(image, (320, 320), (</a:t>
            </a:r>
            <a:r>
              <a:rPr lang="en-US" dirty="0" err="1"/>
              <a:t>hour_x</a:t>
            </a:r>
            <a:r>
              <a:rPr lang="en-US" dirty="0"/>
              <a:t>, </a:t>
            </a:r>
            <a:r>
              <a:rPr lang="en-US" dirty="0" err="1"/>
              <a:t>hour_y</a:t>
            </a:r>
            <a:r>
              <a:rPr lang="en-US" dirty="0"/>
              <a:t>), colors['blue'], 10)</a:t>
            </a:r>
          </a:p>
          <a:p>
            <a:r>
              <a:rPr lang="en-US" dirty="0"/>
              <a:t>Finally, a small circle is drawn, corresponding to the point where the three needles join:</a:t>
            </a:r>
          </a:p>
          <a:p>
            <a:r>
              <a:rPr lang="en-US" dirty="0"/>
              <a:t>cv2.circle(image, (320, 320), 10, colors['</a:t>
            </a:r>
            <a:r>
              <a:rPr lang="en-US" dirty="0" err="1"/>
              <a:t>dark_gray</a:t>
            </a:r>
            <a:r>
              <a:rPr lang="en-US" dirty="0"/>
              <a:t>'], -1)</a:t>
            </a:r>
          </a:p>
        </p:txBody>
      </p:sp>
      <p:pic>
        <p:nvPicPr>
          <p:cNvPr id="5" name="Content Placeholder 4"/>
          <p:cNvPicPr>
            <a:picLocks noGrp="1" noChangeAspect="1"/>
          </p:cNvPicPr>
          <p:nvPr>
            <p:ph sz="half" idx="2"/>
          </p:nvPr>
        </p:nvPicPr>
        <p:blipFill>
          <a:blip r:embed="rId2"/>
          <a:stretch>
            <a:fillRect/>
          </a:stretch>
        </p:blipFill>
        <p:spPr>
          <a:xfrm>
            <a:off x="7167340" y="2391344"/>
            <a:ext cx="3191320" cy="3219899"/>
          </a:xfrm>
          <a:prstGeom prst="rect">
            <a:avLst/>
          </a:prstGeom>
        </p:spPr>
      </p:pic>
    </p:spTree>
    <p:extLst>
      <p:ext uri="{BB962C8B-B14F-4D97-AF65-F5344CB8AC3E}">
        <p14:creationId xmlns:p14="http://schemas.microsoft.com/office/powerpoint/2010/main" val="1425826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drawing</a:t>
            </a:r>
          </a:p>
        </p:txBody>
      </p:sp>
      <p:sp>
        <p:nvSpPr>
          <p:cNvPr id="3" name="Content Placeholder 2"/>
          <p:cNvSpPr>
            <a:spLocks noGrp="1"/>
          </p:cNvSpPr>
          <p:nvPr>
            <p:ph sz="half" idx="1"/>
          </p:nvPr>
        </p:nvSpPr>
        <p:spPr/>
        <p:txBody>
          <a:bodyPr>
            <a:normAutofit lnSpcReduction="10000"/>
          </a:bodyPr>
          <a:lstStyle/>
          <a:p>
            <a:endParaRPr lang="en-US" dirty="0"/>
          </a:p>
          <a:p>
            <a:r>
              <a:rPr lang="en-US" dirty="0"/>
              <a:t>The script analog_clock_values.py script calculates the fixed coordinates for both the </a:t>
            </a:r>
            <a:r>
              <a:rPr lang="en-US" dirty="0" err="1"/>
              <a:t>hours_orig</a:t>
            </a:r>
            <a:r>
              <a:rPr lang="en-US" dirty="0"/>
              <a:t> and </a:t>
            </a:r>
            <a:r>
              <a:rPr lang="en-US" dirty="0" err="1"/>
              <a:t>hours_dest</a:t>
            </a:r>
            <a:r>
              <a:rPr lang="en-US" dirty="0"/>
              <a:t> arrays. To calculate the (x, y) coordinates for the hour markings, we use the parametric equation of a circle, as can be seen in the next screenshot:</a:t>
            </a:r>
          </a:p>
        </p:txBody>
      </p:sp>
      <p:pic>
        <p:nvPicPr>
          <p:cNvPr id="5" name="Content Placeholder 4"/>
          <p:cNvPicPr>
            <a:picLocks noGrp="1" noChangeAspect="1"/>
          </p:cNvPicPr>
          <p:nvPr>
            <p:ph sz="half" idx="2"/>
          </p:nvPr>
        </p:nvPicPr>
        <p:blipFill>
          <a:blip r:embed="rId2"/>
          <a:stretch>
            <a:fillRect/>
          </a:stretch>
        </p:blipFill>
        <p:spPr>
          <a:xfrm>
            <a:off x="6714839" y="1915028"/>
            <a:ext cx="4096322" cy="4172532"/>
          </a:xfrm>
          <a:prstGeom prst="rect">
            <a:avLst/>
          </a:prstGeom>
        </p:spPr>
      </p:pic>
    </p:spTree>
    <p:extLst>
      <p:ext uri="{BB962C8B-B14F-4D97-AF65-F5344CB8AC3E}">
        <p14:creationId xmlns:p14="http://schemas.microsoft.com/office/powerpoint/2010/main" val="5011778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Advanced drawing</a:t>
            </a:r>
          </a:p>
        </p:txBody>
      </p:sp>
      <p:sp>
        <p:nvSpPr>
          <p:cNvPr id="6" name="Content Placeholder 5"/>
          <p:cNvSpPr>
            <a:spLocks noGrp="1"/>
          </p:cNvSpPr>
          <p:nvPr>
            <p:ph idx="1"/>
          </p:nvPr>
        </p:nvSpPr>
        <p:spPr/>
        <p:txBody>
          <a:bodyPr>
            <a:normAutofit fontScale="40000" lnSpcReduction="20000"/>
          </a:bodyPr>
          <a:lstStyle/>
          <a:p>
            <a:r>
              <a:rPr lang="en-US" dirty="0"/>
              <a:t>We have followed the equation in the previous screenshot to calculate the coordinates for the 12 points P(x, y) at every 30 degrees and starting at 0 degrees (0, 30, 60, 90, 120, 150, 180, 210, 240, 270, 300, and 330) with two different radii. This way, we are able to define the coordinates for the lines defining the hour markings. The code to calculate these coordinates is as follows:</a:t>
            </a:r>
          </a:p>
          <a:p>
            <a:endParaRPr lang="en-US" dirty="0"/>
          </a:p>
          <a:p>
            <a:r>
              <a:rPr lang="en-US" dirty="0"/>
              <a:t>radius = 300</a:t>
            </a:r>
          </a:p>
          <a:p>
            <a:r>
              <a:rPr lang="en-US" dirty="0"/>
              <a:t>center = (320, 320)</a:t>
            </a:r>
          </a:p>
          <a:p>
            <a:endParaRPr lang="en-US" dirty="0"/>
          </a:p>
          <a:p>
            <a:r>
              <a:rPr lang="en-US" dirty="0"/>
              <a:t>for x in (0, 30, 60, 90, 120, 150, 180, 210, 240, 270, 300, 330):</a:t>
            </a:r>
          </a:p>
          <a:p>
            <a:r>
              <a:rPr lang="en-US" dirty="0"/>
              <a:t>    </a:t>
            </a:r>
            <a:r>
              <a:rPr lang="en-US" dirty="0" err="1"/>
              <a:t>x_coordinate</a:t>
            </a:r>
            <a:r>
              <a:rPr lang="en-US" dirty="0"/>
              <a:t> = center[0] + radius * </a:t>
            </a:r>
            <a:r>
              <a:rPr lang="en-US" dirty="0" err="1"/>
              <a:t>math.cos</a:t>
            </a:r>
            <a:r>
              <a:rPr lang="en-US" dirty="0"/>
              <a:t>(x * 3.14/180)</a:t>
            </a:r>
          </a:p>
          <a:p>
            <a:r>
              <a:rPr lang="en-US" dirty="0"/>
              <a:t>    </a:t>
            </a:r>
            <a:r>
              <a:rPr lang="en-US" dirty="0" err="1"/>
              <a:t>y_coordinate</a:t>
            </a:r>
            <a:r>
              <a:rPr lang="en-US" dirty="0"/>
              <a:t> = center[1] + radius * </a:t>
            </a:r>
            <a:r>
              <a:rPr lang="en-US" dirty="0" err="1"/>
              <a:t>math.sin</a:t>
            </a:r>
            <a:r>
              <a:rPr lang="en-US" dirty="0"/>
              <a:t>(x * 3.14/180)</a:t>
            </a:r>
          </a:p>
          <a:p>
            <a:r>
              <a:rPr lang="en-US" dirty="0"/>
              <a:t>    print("x: {} y: {}".format(round(</a:t>
            </a:r>
            <a:r>
              <a:rPr lang="en-US" dirty="0" err="1"/>
              <a:t>x_coordinate</a:t>
            </a:r>
            <a:r>
              <a:rPr lang="en-US" dirty="0"/>
              <a:t>), round(</a:t>
            </a:r>
            <a:r>
              <a:rPr lang="en-US" dirty="0" err="1"/>
              <a:t>y_coordinate</a:t>
            </a:r>
            <a:r>
              <a:rPr lang="en-US" dirty="0"/>
              <a:t>)))</a:t>
            </a:r>
          </a:p>
          <a:p>
            <a:endParaRPr lang="en-US" dirty="0"/>
          </a:p>
          <a:p>
            <a:r>
              <a:rPr lang="en-US" dirty="0"/>
              <a:t>for x in (0, 30, 60, 90, 120, 150, 180, 210, 240, 270, 300, 330):</a:t>
            </a:r>
          </a:p>
          <a:p>
            <a:r>
              <a:rPr lang="en-US" dirty="0"/>
              <a:t>    </a:t>
            </a:r>
            <a:r>
              <a:rPr lang="en-US" dirty="0" err="1"/>
              <a:t>x_coordinate</a:t>
            </a:r>
            <a:r>
              <a:rPr lang="en-US" dirty="0"/>
              <a:t> = center[0] + (radius - 20) * </a:t>
            </a:r>
            <a:r>
              <a:rPr lang="en-US" dirty="0" err="1"/>
              <a:t>math.cos</a:t>
            </a:r>
            <a:r>
              <a:rPr lang="en-US" dirty="0"/>
              <a:t>(x * 3.14/180)</a:t>
            </a:r>
          </a:p>
          <a:p>
            <a:r>
              <a:rPr lang="en-US" dirty="0"/>
              <a:t>    </a:t>
            </a:r>
            <a:r>
              <a:rPr lang="en-US" dirty="0" err="1"/>
              <a:t>y_coordinate</a:t>
            </a:r>
            <a:r>
              <a:rPr lang="en-US" dirty="0"/>
              <a:t> = center[1] + (radius - 20) * </a:t>
            </a:r>
            <a:r>
              <a:rPr lang="en-US" dirty="0" err="1"/>
              <a:t>math.sin</a:t>
            </a:r>
            <a:r>
              <a:rPr lang="en-US" dirty="0"/>
              <a:t>(x * 3.14/180)</a:t>
            </a:r>
          </a:p>
          <a:p>
            <a:r>
              <a:rPr lang="en-US" dirty="0"/>
              <a:t>    print("x: {} y: {}".format(round(</a:t>
            </a:r>
            <a:r>
              <a:rPr lang="en-US" dirty="0" err="1"/>
              <a:t>x_coordinate</a:t>
            </a:r>
            <a:r>
              <a:rPr lang="en-US" dirty="0"/>
              <a:t>), round(</a:t>
            </a:r>
            <a:r>
              <a:rPr lang="en-US" dirty="0" err="1"/>
              <a:t>y_coordinate</a:t>
            </a:r>
            <a:r>
              <a:rPr lang="en-US" dirty="0"/>
              <a:t>)))</a:t>
            </a:r>
          </a:p>
          <a:p>
            <a:r>
              <a:rPr lang="en-US" dirty="0"/>
              <a:t>The full code for this script can be seen in analog_clock_values.py. It should be noted that we could have included the code to calculate these coordinates inside the other script, but it can be a good exercise for you to do it.</a:t>
            </a:r>
          </a:p>
        </p:txBody>
      </p:sp>
    </p:spTree>
    <p:extLst>
      <p:ext uri="{BB962C8B-B14F-4D97-AF65-F5344CB8AC3E}">
        <p14:creationId xmlns:p14="http://schemas.microsoft.com/office/powerpoint/2010/main" val="2780351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6" name="Content Placeholder 5"/>
          <p:cNvSpPr>
            <a:spLocks noGrp="1"/>
          </p:cNvSpPr>
          <p:nvPr>
            <p:ph idx="1"/>
          </p:nvPr>
        </p:nvSpPr>
        <p:spPr/>
        <p:txBody>
          <a:bodyPr/>
          <a:lstStyle/>
          <a:p>
            <a:endParaRPr lang="en-US"/>
          </a:p>
        </p:txBody>
      </p:sp>
    </p:spTree>
    <p:extLst>
      <p:ext uri="{BB962C8B-B14F-4D97-AF65-F5344CB8AC3E}">
        <p14:creationId xmlns:p14="http://schemas.microsoft.com/office/powerpoint/2010/main" val="39857328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6" name="Content Placeholder 5"/>
          <p:cNvSpPr>
            <a:spLocks noGrp="1"/>
          </p:cNvSpPr>
          <p:nvPr>
            <p:ph idx="1"/>
          </p:nvPr>
        </p:nvSpPr>
        <p:spPr/>
        <p:txBody>
          <a:bodyPr/>
          <a:lstStyle/>
          <a:p>
            <a:endParaRPr lang="en-US"/>
          </a:p>
        </p:txBody>
      </p:sp>
    </p:spTree>
    <p:extLst>
      <p:ext uri="{BB962C8B-B14F-4D97-AF65-F5344CB8AC3E}">
        <p14:creationId xmlns:p14="http://schemas.microsoft.com/office/powerpoint/2010/main" val="5015520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6" name="Content Placeholder 5"/>
          <p:cNvSpPr>
            <a:spLocks noGrp="1"/>
          </p:cNvSpPr>
          <p:nvPr>
            <p:ph idx="1"/>
          </p:nvPr>
        </p:nvSpPr>
        <p:spPr/>
        <p:txBody>
          <a:bodyPr/>
          <a:lstStyle/>
          <a:p>
            <a:endParaRPr lang="en-US"/>
          </a:p>
        </p:txBody>
      </p:sp>
    </p:spTree>
    <p:extLst>
      <p:ext uri="{BB962C8B-B14F-4D97-AF65-F5344CB8AC3E}">
        <p14:creationId xmlns:p14="http://schemas.microsoft.com/office/powerpoint/2010/main" val="32987634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6" name="Content Placeholder 5"/>
          <p:cNvSpPr>
            <a:spLocks noGrp="1"/>
          </p:cNvSpPr>
          <p:nvPr>
            <p:ph idx="1"/>
          </p:nvPr>
        </p:nvSpPr>
        <p:spPr/>
        <p:txBody>
          <a:bodyPr/>
          <a:lstStyle/>
          <a:p>
            <a:endParaRPr lang="en-US"/>
          </a:p>
        </p:txBody>
      </p:sp>
    </p:spTree>
    <p:extLst>
      <p:ext uri="{BB962C8B-B14F-4D97-AF65-F5344CB8AC3E}">
        <p14:creationId xmlns:p14="http://schemas.microsoft.com/office/powerpoint/2010/main" val="1160972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895</TotalTime>
  <Words>7102</Words>
  <Application>Microsoft Office PowerPoint</Application>
  <PresentationFormat>Widescreen</PresentationFormat>
  <Paragraphs>481</Paragraphs>
  <Slides>62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Calibri Light</vt:lpstr>
      <vt:lpstr>Georgia</vt:lpstr>
      <vt:lpstr>Office Theme</vt:lpstr>
      <vt:lpstr>OpenCV 4 and Python</vt:lpstr>
      <vt:lpstr>OpenCV 4 and Python</vt:lpstr>
      <vt:lpstr> Handling Files and Images</vt:lpstr>
      <vt:lpstr>A theoretical introduction to drawing in OpenCV</vt:lpstr>
      <vt:lpstr>Display useful information on images</vt:lpstr>
      <vt:lpstr>A colors dictionary</vt:lpstr>
      <vt:lpstr>A constant colors file</vt:lpstr>
      <vt:lpstr>How to use these constants</vt:lpstr>
      <vt:lpstr>Matplotlib function for ploting</vt:lpstr>
      <vt:lpstr>The code to create the dictionary is shown here:</vt:lpstr>
      <vt:lpstr>you do not need to memorize</vt:lpstr>
      <vt:lpstr>PowerPoint Presentation</vt:lpstr>
      <vt:lpstr>PowerPoint Presentation</vt:lpstr>
      <vt:lpstr>PowerPoint Presentation</vt:lpstr>
      <vt:lpstr>Drawing shapes </vt:lpstr>
      <vt:lpstr>Basic shapes – lines, rectangles, and circles</vt:lpstr>
      <vt:lpstr>most drawing functions</vt:lpstr>
      <vt:lpstr>PowerPoint Presentation</vt:lpstr>
      <vt:lpstr>Drawing lines</vt:lpstr>
      <vt:lpstr>Drawing rectangles</vt:lpstr>
      <vt:lpstr>Drawing circles </vt:lpstr>
      <vt:lpstr>Understanding advanced shapes</vt:lpstr>
      <vt:lpstr>Drawing a clip line</vt:lpstr>
      <vt:lpstr>Drawing arrows</vt:lpstr>
      <vt:lpstr>Drawing ellipses</vt:lpstr>
      <vt:lpstr>Drawing polygons</vt:lpstr>
      <vt:lpstr>Drawing polygons</vt:lpstr>
      <vt:lpstr>Drawing polygons</vt:lpstr>
      <vt:lpstr>Shift parameter in drawing functions</vt:lpstr>
      <vt:lpstr>Shift parameter in drawing functions</vt:lpstr>
      <vt:lpstr>Shift parameter in drawing functions</vt:lpstr>
      <vt:lpstr>Shift parameter in drawing functions</vt:lpstr>
      <vt:lpstr>lineType parameter in drawing functions</vt:lpstr>
      <vt:lpstr>Writing text</vt:lpstr>
      <vt:lpstr>Drawing text</vt:lpstr>
      <vt:lpstr>Using all OpenCV text fonts</vt:lpstr>
      <vt:lpstr>Using all OpenCV text fonts</vt:lpstr>
      <vt:lpstr>Using all OpenCV text fonts</vt:lpstr>
      <vt:lpstr>More functions related to text</vt:lpstr>
      <vt:lpstr>More functions related to text</vt:lpstr>
      <vt:lpstr>More functions related to text</vt:lpstr>
      <vt:lpstr>More functions related to text</vt:lpstr>
      <vt:lpstr>Dynamic drawing with mouse events</vt:lpstr>
      <vt:lpstr>Drawing dynamic shapes</vt:lpstr>
      <vt:lpstr>Drawing dynamic shapes</vt:lpstr>
      <vt:lpstr>Drawing dynamic shapes</vt:lpstr>
      <vt:lpstr>Drawing both text and shapes</vt:lpstr>
      <vt:lpstr>Drawing both text and shapes</vt:lpstr>
      <vt:lpstr>Drawing both text and shapes</vt:lpstr>
      <vt:lpstr>Event handling with Matplotlib</vt:lpstr>
      <vt:lpstr>Event handling with Matplotlib</vt:lpstr>
      <vt:lpstr>Advanced drawing</vt:lpstr>
      <vt:lpstr>Advanced drawing</vt:lpstr>
      <vt:lpstr>Advanced drawing</vt:lpstr>
      <vt:lpstr>Advanced drawing</vt:lpstr>
      <vt:lpstr>Advanced drawing</vt:lpstr>
      <vt:lpstr>Advanced drawing</vt:lpstr>
      <vt:lpstr>Advanced drawing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OpenCV 4 and Python</dc:title>
  <dc:creator>Microsoft account</dc:creator>
  <cp:lastModifiedBy>Microsoft account</cp:lastModifiedBy>
  <cp:revision>43</cp:revision>
  <dcterms:created xsi:type="dcterms:W3CDTF">2021-02-05T04:23:44Z</dcterms:created>
  <dcterms:modified xsi:type="dcterms:W3CDTF">2021-02-09T00:38:14Z</dcterms:modified>
</cp:coreProperties>
</file>